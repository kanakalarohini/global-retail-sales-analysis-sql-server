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8288000" cy="10287000"/>
  <p:notesSz cx="6858000" cy="9144000"/>
  <p:embeddedFontLst>
    <p:embeddedFont>
      <p:font typeface="Atkinson Hyperlegible" panose="020B0604020202020204" charset="0"/>
      <p:regular r:id="rId22"/>
    </p:embeddedFont>
    <p:embeddedFont>
      <p:font typeface="Atkinson Hyperlegible Bold" panose="020B0604020202020204" charset="0"/>
      <p:regular r:id="rId23"/>
    </p:embeddedFont>
    <p:embeddedFont>
      <p:font typeface="Lexend Deca" panose="020B0604020202020204" charset="0"/>
      <p:regular r:id="rId24"/>
    </p:embeddedFont>
    <p:embeddedFont>
      <p:font typeface="Open Sans" panose="020B0606030504020204" pitchFamily="34" charset="0"/>
      <p:regular r:id="rId25"/>
    </p:embeddedFont>
    <p:embeddedFont>
      <p:font typeface="Open Sans Bold" panose="020B0604020202020204" charset="0"/>
      <p:regular r:id="rId26"/>
    </p:embeddedFont>
    <p:embeddedFont>
      <p:font typeface="Poppins Bold" panose="020B0604020202020204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jpeg"/><Relationship Id="rId4" Type="http://schemas.openxmlformats.org/officeDocument/2006/relationships/image" Target="../media/image26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jpeg"/><Relationship Id="rId4" Type="http://schemas.openxmlformats.org/officeDocument/2006/relationships/image" Target="../media/image30.jpe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6612030"/>
            <a:chOff x="0" y="0"/>
            <a:chExt cx="4816593" cy="17414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1741440"/>
            </a:xfrm>
            <a:custGeom>
              <a:avLst/>
              <a:gdLst/>
              <a:ahLst/>
              <a:cxnLst/>
              <a:rect l="l" t="t" r="r" b="b"/>
              <a:pathLst>
                <a:path w="4816592" h="1741440">
                  <a:moveTo>
                    <a:pt x="0" y="0"/>
                  </a:moveTo>
                  <a:lnTo>
                    <a:pt x="4816592" y="0"/>
                  </a:lnTo>
                  <a:lnTo>
                    <a:pt x="4816592" y="1741440"/>
                  </a:lnTo>
                  <a:lnTo>
                    <a:pt x="0" y="1741440"/>
                  </a:lnTo>
                  <a:close/>
                </a:path>
              </a:pathLst>
            </a:custGeom>
            <a:solidFill>
              <a:srgbClr val="F7F9F7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17795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0" y="6602505"/>
            <a:ext cx="18288000" cy="0"/>
          </a:xfrm>
          <a:prstGeom prst="line">
            <a:avLst/>
          </a:prstGeom>
          <a:ln w="19050" cap="flat">
            <a:solidFill>
              <a:srgbClr val="1F29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0" y="3488443"/>
            <a:ext cx="18288000" cy="0"/>
          </a:xfrm>
          <a:prstGeom prst="line">
            <a:avLst/>
          </a:prstGeom>
          <a:ln w="19050" cap="flat">
            <a:solidFill>
              <a:srgbClr val="1F2937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599186" y="3122467"/>
            <a:ext cx="4239554" cy="731951"/>
            <a:chOff x="0" y="0"/>
            <a:chExt cx="2353920" cy="4064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353920" cy="406400"/>
            </a:xfrm>
            <a:custGeom>
              <a:avLst/>
              <a:gdLst/>
              <a:ahLst/>
              <a:cxnLst/>
              <a:rect l="l" t="t" r="r" b="b"/>
              <a:pathLst>
                <a:path w="2353920" h="406400">
                  <a:moveTo>
                    <a:pt x="2150720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2150720" y="406400"/>
                  </a:lnTo>
                  <a:lnTo>
                    <a:pt x="2353920" y="203200"/>
                  </a:lnTo>
                  <a:lnTo>
                    <a:pt x="2150720" y="0"/>
                  </a:lnTo>
                  <a:close/>
                </a:path>
              </a:pathLst>
            </a:custGeom>
            <a:solidFill>
              <a:srgbClr val="2563EB"/>
            </a:solidFill>
            <a:ln w="28575" cap="sq">
              <a:solidFill>
                <a:srgbClr val="1F2937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52400" y="-47625"/>
              <a:ext cx="2049120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28700" y="3863944"/>
            <a:ext cx="12190234" cy="2181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0"/>
              </a:lnSpc>
            </a:pPr>
            <a:r>
              <a:rPr lang="en-US" sz="12000" b="1">
                <a:solidFill>
                  <a:srgbClr val="1F2937"/>
                </a:solidFill>
                <a:latin typeface="Poppins Bold"/>
                <a:ea typeface="Poppins Bold"/>
                <a:cs typeface="Poppins Bold"/>
                <a:sym typeface="Poppins Bold"/>
              </a:rPr>
              <a:t>Sales Analysis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69966" y="3253511"/>
            <a:ext cx="3097995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F7F9F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Global Retail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3488443"/>
            <a:chOff x="0" y="0"/>
            <a:chExt cx="4816593" cy="9187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918767"/>
            </a:xfrm>
            <a:custGeom>
              <a:avLst/>
              <a:gdLst/>
              <a:ahLst/>
              <a:cxnLst/>
              <a:rect l="l" t="t" r="r" b="b"/>
              <a:pathLst>
                <a:path w="4816592" h="918767">
                  <a:moveTo>
                    <a:pt x="0" y="0"/>
                  </a:moveTo>
                  <a:lnTo>
                    <a:pt x="4816592" y="0"/>
                  </a:lnTo>
                  <a:lnTo>
                    <a:pt x="4816592" y="918767"/>
                  </a:lnTo>
                  <a:lnTo>
                    <a:pt x="0" y="918767"/>
                  </a:lnTo>
                  <a:close/>
                </a:path>
              </a:pathLst>
            </a:custGeom>
            <a:solidFill>
              <a:srgbClr val="F7F9F7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9568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0" y="1014412"/>
            <a:ext cx="18288000" cy="0"/>
          </a:xfrm>
          <a:prstGeom prst="line">
            <a:avLst/>
          </a:prstGeom>
          <a:ln w="19050" cap="flat">
            <a:solidFill>
              <a:srgbClr val="1F29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9616157" y="3788587"/>
            <a:ext cx="858131" cy="514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1F29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616157" y="5208371"/>
            <a:ext cx="858131" cy="514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1F29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03.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616157" y="5932234"/>
            <a:ext cx="858131" cy="514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1F29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04.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616157" y="6619912"/>
            <a:ext cx="858131" cy="514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1F29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05.</a:t>
            </a:r>
          </a:p>
        </p:txBody>
      </p:sp>
      <p:sp>
        <p:nvSpPr>
          <p:cNvPr id="10" name="AutoShape 10"/>
          <p:cNvSpPr/>
          <p:nvPr/>
        </p:nvSpPr>
        <p:spPr>
          <a:xfrm>
            <a:off x="0" y="3488443"/>
            <a:ext cx="18288000" cy="0"/>
          </a:xfrm>
          <a:prstGeom prst="line">
            <a:avLst/>
          </a:prstGeom>
          <a:ln w="19050" cap="flat">
            <a:solidFill>
              <a:srgbClr val="1F29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AutoShape 11"/>
          <p:cNvSpPr/>
          <p:nvPr/>
        </p:nvSpPr>
        <p:spPr>
          <a:xfrm>
            <a:off x="10474288" y="5015992"/>
            <a:ext cx="7813712" cy="0"/>
          </a:xfrm>
          <a:prstGeom prst="line">
            <a:avLst/>
          </a:prstGeom>
          <a:ln w="19050" cap="flat">
            <a:solidFill>
              <a:srgbClr val="1F29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>
            <a:off x="10474288" y="4311142"/>
            <a:ext cx="7813712" cy="0"/>
          </a:xfrm>
          <a:prstGeom prst="line">
            <a:avLst/>
          </a:prstGeom>
          <a:ln w="19050" cap="flat">
            <a:solidFill>
              <a:srgbClr val="1F29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>
            <a:off x="10474288" y="6427534"/>
            <a:ext cx="7813712" cy="0"/>
          </a:xfrm>
          <a:prstGeom prst="line">
            <a:avLst/>
          </a:prstGeom>
          <a:ln w="19050" cap="flat">
            <a:solidFill>
              <a:srgbClr val="1F29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>
            <a:off x="10474288" y="5722684"/>
            <a:ext cx="7813712" cy="0"/>
          </a:xfrm>
          <a:prstGeom prst="line">
            <a:avLst/>
          </a:prstGeom>
          <a:ln w="19050" cap="flat">
            <a:solidFill>
              <a:srgbClr val="1F29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>
            <a:off x="10474288" y="7134225"/>
            <a:ext cx="7813712" cy="0"/>
          </a:xfrm>
          <a:prstGeom prst="line">
            <a:avLst/>
          </a:prstGeom>
          <a:ln w="19050" cap="flat">
            <a:solidFill>
              <a:srgbClr val="1F29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16"/>
          <p:cNvSpPr/>
          <p:nvPr/>
        </p:nvSpPr>
        <p:spPr>
          <a:xfrm>
            <a:off x="10474288" y="7839075"/>
            <a:ext cx="7813712" cy="0"/>
          </a:xfrm>
          <a:prstGeom prst="line">
            <a:avLst/>
          </a:prstGeom>
          <a:ln w="19050" cap="flat">
            <a:solidFill>
              <a:srgbClr val="1F29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AutoShape 17"/>
          <p:cNvSpPr/>
          <p:nvPr/>
        </p:nvSpPr>
        <p:spPr>
          <a:xfrm>
            <a:off x="10474288" y="8543925"/>
            <a:ext cx="7813712" cy="0"/>
          </a:xfrm>
          <a:prstGeom prst="line">
            <a:avLst/>
          </a:prstGeom>
          <a:ln w="19050" cap="flat">
            <a:solidFill>
              <a:srgbClr val="1F29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AutoShape 18"/>
          <p:cNvSpPr/>
          <p:nvPr/>
        </p:nvSpPr>
        <p:spPr>
          <a:xfrm>
            <a:off x="10474288" y="9248775"/>
            <a:ext cx="7813712" cy="0"/>
          </a:xfrm>
          <a:prstGeom prst="line">
            <a:avLst/>
          </a:prstGeom>
          <a:ln w="19050" cap="flat">
            <a:solidFill>
              <a:srgbClr val="1F2937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9" name="Group 19"/>
          <p:cNvGrpSpPr/>
          <p:nvPr/>
        </p:nvGrpSpPr>
        <p:grpSpPr>
          <a:xfrm>
            <a:off x="1028700" y="5143500"/>
            <a:ext cx="6742477" cy="4105275"/>
            <a:chOff x="0" y="0"/>
            <a:chExt cx="1044586" cy="63601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44586" cy="636015"/>
            </a:xfrm>
            <a:custGeom>
              <a:avLst/>
              <a:gdLst/>
              <a:ahLst/>
              <a:cxnLst/>
              <a:rect l="l" t="t" r="r" b="b"/>
              <a:pathLst>
                <a:path w="1044586" h="636015">
                  <a:moveTo>
                    <a:pt x="0" y="0"/>
                  </a:moveTo>
                  <a:lnTo>
                    <a:pt x="1044586" y="0"/>
                  </a:lnTo>
                  <a:lnTo>
                    <a:pt x="1044586" y="636015"/>
                  </a:lnTo>
                  <a:lnTo>
                    <a:pt x="0" y="636015"/>
                  </a:lnTo>
                  <a:close/>
                </a:path>
              </a:pathLst>
            </a:custGeom>
            <a:blipFill>
              <a:blip r:embed="rId2"/>
              <a:stretch>
                <a:fillRect l="-6376" r="-6376"/>
              </a:stretch>
            </a:blipFill>
          </p:spPr>
        </p:sp>
      </p:grpSp>
      <p:sp>
        <p:nvSpPr>
          <p:cNvPr id="21" name="TextBox 21"/>
          <p:cNvSpPr txBox="1"/>
          <p:nvPr/>
        </p:nvSpPr>
        <p:spPr>
          <a:xfrm>
            <a:off x="1028700" y="1317940"/>
            <a:ext cx="6915212" cy="1619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599"/>
              </a:lnSpc>
            </a:pPr>
            <a:r>
              <a:rPr lang="en-US" sz="9000" b="1" dirty="0">
                <a:solidFill>
                  <a:srgbClr val="1F2937"/>
                </a:solidFill>
                <a:latin typeface="Poppins Bold"/>
                <a:ea typeface="Poppins Bold"/>
                <a:cs typeface="Poppins Bold"/>
                <a:sym typeface="Poppins Bold"/>
              </a:rPr>
              <a:t>Agenda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616157" y="4501679"/>
            <a:ext cx="858131" cy="514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1F29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616157" y="7305675"/>
            <a:ext cx="858131" cy="514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1F29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06.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616157" y="8029612"/>
            <a:ext cx="858131" cy="514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1F29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07.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616157" y="8753475"/>
            <a:ext cx="858131" cy="514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1F29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08.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474288" y="3798112"/>
            <a:ext cx="5157494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Data Understanding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474288" y="4511204"/>
            <a:ext cx="4559957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Data_Cleaning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474288" y="5216017"/>
            <a:ext cx="368767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Data_Modeling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474288" y="5922709"/>
            <a:ext cx="368767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Product_Analysis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474288" y="6629437"/>
            <a:ext cx="3687670" cy="422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Customer Analysis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474288" y="7334250"/>
            <a:ext cx="368767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Store &amp; Sales Analysis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474288" y="8020050"/>
            <a:ext cx="368767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Financial Analysis 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474288" y="8724900"/>
            <a:ext cx="6344659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Executive Dashboard &amp; KPI Analysis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7024223" y="662724"/>
            <a:ext cx="4239554" cy="731951"/>
            <a:chOff x="0" y="0"/>
            <a:chExt cx="2353920" cy="4064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353920" cy="406400"/>
            </a:xfrm>
            <a:custGeom>
              <a:avLst/>
              <a:gdLst/>
              <a:ahLst/>
              <a:cxnLst/>
              <a:rect l="l" t="t" r="r" b="b"/>
              <a:pathLst>
                <a:path w="2353920" h="406400">
                  <a:moveTo>
                    <a:pt x="2150720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2150720" y="406400"/>
                  </a:lnTo>
                  <a:lnTo>
                    <a:pt x="2353920" y="203200"/>
                  </a:lnTo>
                  <a:lnTo>
                    <a:pt x="2150720" y="0"/>
                  </a:lnTo>
                  <a:close/>
                </a:path>
              </a:pathLst>
            </a:custGeom>
            <a:solidFill>
              <a:srgbClr val="2563EB"/>
            </a:solidFill>
            <a:ln w="28575" cap="sq">
              <a:solidFill>
                <a:srgbClr val="1F2937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52400" y="-47625"/>
              <a:ext cx="2049120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7595003" y="793769"/>
            <a:ext cx="3097995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F7F9F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Global Retail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3488443"/>
            <a:chOff x="0" y="0"/>
            <a:chExt cx="4816593" cy="9187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918767"/>
            </a:xfrm>
            <a:custGeom>
              <a:avLst/>
              <a:gdLst/>
              <a:ahLst/>
              <a:cxnLst/>
              <a:rect l="l" t="t" r="r" b="b"/>
              <a:pathLst>
                <a:path w="4816592" h="918767">
                  <a:moveTo>
                    <a:pt x="0" y="0"/>
                  </a:moveTo>
                  <a:lnTo>
                    <a:pt x="4816592" y="0"/>
                  </a:lnTo>
                  <a:lnTo>
                    <a:pt x="4816592" y="918767"/>
                  </a:lnTo>
                  <a:lnTo>
                    <a:pt x="0" y="918767"/>
                  </a:lnTo>
                  <a:close/>
                </a:path>
              </a:pathLst>
            </a:custGeom>
            <a:solidFill>
              <a:srgbClr val="F7F9F7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9568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0" y="1014413"/>
            <a:ext cx="18288000" cy="0"/>
          </a:xfrm>
          <a:prstGeom prst="line">
            <a:avLst/>
          </a:prstGeom>
          <a:ln w="19050" cap="flat">
            <a:solidFill>
              <a:srgbClr val="1F29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0" y="3054021"/>
            <a:ext cx="18288000" cy="0"/>
          </a:xfrm>
          <a:prstGeom prst="line">
            <a:avLst/>
          </a:prstGeom>
          <a:ln w="19050" cap="flat">
            <a:solidFill>
              <a:srgbClr val="1F2937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7024223" y="662724"/>
            <a:ext cx="4239554" cy="731951"/>
            <a:chOff x="0" y="0"/>
            <a:chExt cx="2353920" cy="4064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353920" cy="406400"/>
            </a:xfrm>
            <a:custGeom>
              <a:avLst/>
              <a:gdLst/>
              <a:ahLst/>
              <a:cxnLst/>
              <a:rect l="l" t="t" r="r" b="b"/>
              <a:pathLst>
                <a:path w="2353920" h="406400">
                  <a:moveTo>
                    <a:pt x="2150720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2150720" y="406400"/>
                  </a:lnTo>
                  <a:lnTo>
                    <a:pt x="2353920" y="203200"/>
                  </a:lnTo>
                  <a:lnTo>
                    <a:pt x="2150720" y="0"/>
                  </a:lnTo>
                  <a:close/>
                </a:path>
              </a:pathLst>
            </a:custGeom>
            <a:solidFill>
              <a:srgbClr val="2563EB"/>
            </a:solidFill>
            <a:ln w="28575" cap="sq">
              <a:solidFill>
                <a:srgbClr val="1F2937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52400" y="-47625"/>
              <a:ext cx="2049120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595003" y="3044496"/>
            <a:ext cx="9985361" cy="7242504"/>
            <a:chOff x="0" y="0"/>
            <a:chExt cx="1546994" cy="112205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546994" cy="1122053"/>
            </a:xfrm>
            <a:custGeom>
              <a:avLst/>
              <a:gdLst/>
              <a:ahLst/>
              <a:cxnLst/>
              <a:rect l="l" t="t" r="r" b="b"/>
              <a:pathLst>
                <a:path w="1546994" h="1122053">
                  <a:moveTo>
                    <a:pt x="0" y="0"/>
                  </a:moveTo>
                  <a:lnTo>
                    <a:pt x="1546994" y="0"/>
                  </a:lnTo>
                  <a:lnTo>
                    <a:pt x="1546994" y="1122053"/>
                  </a:lnTo>
                  <a:lnTo>
                    <a:pt x="0" y="1122053"/>
                  </a:lnTo>
                  <a:close/>
                </a:path>
              </a:pathLst>
            </a:custGeom>
            <a:blipFill>
              <a:blip r:embed="rId2"/>
              <a:stretch>
                <a:fillRect l="-1118" r="-1118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028700" y="1346515"/>
            <a:ext cx="12787669" cy="1345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60"/>
              </a:lnSpc>
            </a:pPr>
            <a:r>
              <a:rPr lang="en-US" sz="7400" b="1">
                <a:solidFill>
                  <a:srgbClr val="1F2937"/>
                </a:solidFill>
                <a:latin typeface="Poppins Bold"/>
                <a:ea typeface="Poppins Bold"/>
                <a:cs typeface="Poppins Bold"/>
                <a:sym typeface="Poppins Bold"/>
              </a:rPr>
              <a:t>Data Understanding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87588" y="3783718"/>
            <a:ext cx="7265454" cy="5227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1">
                <a:solidFill>
                  <a:srgbClr val="1F29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SELECT * FROM Customers; </a:t>
            </a:r>
          </a:p>
          <a:p>
            <a:pPr algn="l">
              <a:lnSpc>
                <a:spcPts val="3779"/>
              </a:lnSpc>
            </a:pPr>
            <a:endParaRPr lang="en-US" sz="2699" b="1">
              <a:solidFill>
                <a:srgbClr val="1F2937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3779"/>
              </a:lnSpc>
            </a:pPr>
            <a:r>
              <a:rPr lang="en-US" sz="2699" b="1">
                <a:solidFill>
                  <a:srgbClr val="1F29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SELECT * FROM Products; </a:t>
            </a:r>
          </a:p>
          <a:p>
            <a:pPr algn="l">
              <a:lnSpc>
                <a:spcPts val="3779"/>
              </a:lnSpc>
            </a:pPr>
            <a:endParaRPr lang="en-US" sz="2699" b="1">
              <a:solidFill>
                <a:srgbClr val="1F2937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3779"/>
              </a:lnSpc>
            </a:pPr>
            <a:r>
              <a:rPr lang="en-US" sz="2699" b="1">
                <a:solidFill>
                  <a:srgbClr val="1F29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SELECT * FROM Sales; </a:t>
            </a:r>
          </a:p>
          <a:p>
            <a:pPr algn="l">
              <a:lnSpc>
                <a:spcPts val="3779"/>
              </a:lnSpc>
            </a:pPr>
            <a:endParaRPr lang="en-US" sz="2699" b="1">
              <a:solidFill>
                <a:srgbClr val="1F2937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3779"/>
              </a:lnSpc>
            </a:pPr>
            <a:r>
              <a:rPr lang="en-US" sz="2699" b="1">
                <a:solidFill>
                  <a:srgbClr val="1F29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SELECT * FROM Stores; </a:t>
            </a:r>
          </a:p>
          <a:p>
            <a:pPr algn="l">
              <a:lnSpc>
                <a:spcPts val="3779"/>
              </a:lnSpc>
            </a:pPr>
            <a:endParaRPr lang="en-US" sz="2699" b="1">
              <a:solidFill>
                <a:srgbClr val="1F2937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3779"/>
              </a:lnSpc>
            </a:pPr>
            <a:r>
              <a:rPr lang="en-US" sz="2699" b="1">
                <a:solidFill>
                  <a:srgbClr val="1F29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SELECT * FROM Exchange_Rates; </a:t>
            </a:r>
          </a:p>
          <a:p>
            <a:pPr algn="l">
              <a:lnSpc>
                <a:spcPts val="3779"/>
              </a:lnSpc>
            </a:pPr>
            <a:endParaRPr lang="en-US" sz="2699" b="1">
              <a:solidFill>
                <a:srgbClr val="1F2937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3779"/>
              </a:lnSpc>
            </a:pPr>
            <a:r>
              <a:rPr lang="en-US" sz="2699" b="1">
                <a:solidFill>
                  <a:srgbClr val="1F29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SELECT * FROM Data_Dictionary;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595003" y="793769"/>
            <a:ext cx="3097995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F7F9F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Global retail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3488443"/>
            <a:chOff x="0" y="0"/>
            <a:chExt cx="4816593" cy="9187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918767"/>
            </a:xfrm>
            <a:custGeom>
              <a:avLst/>
              <a:gdLst/>
              <a:ahLst/>
              <a:cxnLst/>
              <a:rect l="l" t="t" r="r" b="b"/>
              <a:pathLst>
                <a:path w="4816592" h="918767">
                  <a:moveTo>
                    <a:pt x="0" y="0"/>
                  </a:moveTo>
                  <a:lnTo>
                    <a:pt x="4816592" y="0"/>
                  </a:lnTo>
                  <a:lnTo>
                    <a:pt x="4816592" y="918767"/>
                  </a:lnTo>
                  <a:lnTo>
                    <a:pt x="0" y="918767"/>
                  </a:lnTo>
                  <a:close/>
                </a:path>
              </a:pathLst>
            </a:custGeom>
            <a:solidFill>
              <a:srgbClr val="F7F9F7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9568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0" y="1014413"/>
            <a:ext cx="18288000" cy="0"/>
          </a:xfrm>
          <a:prstGeom prst="line">
            <a:avLst/>
          </a:prstGeom>
          <a:ln w="19050" cap="flat">
            <a:solidFill>
              <a:srgbClr val="1F29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0" y="3054021"/>
            <a:ext cx="18288000" cy="0"/>
          </a:xfrm>
          <a:prstGeom prst="line">
            <a:avLst/>
          </a:prstGeom>
          <a:ln w="19050" cap="flat">
            <a:solidFill>
              <a:srgbClr val="1F2937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7024223" y="662724"/>
            <a:ext cx="4239554" cy="731951"/>
            <a:chOff x="0" y="0"/>
            <a:chExt cx="2353920" cy="4064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353920" cy="406400"/>
            </a:xfrm>
            <a:custGeom>
              <a:avLst/>
              <a:gdLst/>
              <a:ahLst/>
              <a:cxnLst/>
              <a:rect l="l" t="t" r="r" b="b"/>
              <a:pathLst>
                <a:path w="2353920" h="406400">
                  <a:moveTo>
                    <a:pt x="2150720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2150720" y="406400"/>
                  </a:lnTo>
                  <a:lnTo>
                    <a:pt x="2353920" y="203200"/>
                  </a:lnTo>
                  <a:lnTo>
                    <a:pt x="2150720" y="0"/>
                  </a:lnTo>
                  <a:close/>
                </a:path>
              </a:pathLst>
            </a:custGeom>
            <a:solidFill>
              <a:srgbClr val="2563EB"/>
            </a:solidFill>
            <a:ln w="28575" cap="sq">
              <a:solidFill>
                <a:srgbClr val="1F2937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52400" y="-47625"/>
              <a:ext cx="2049120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064181" y="4794489"/>
            <a:ext cx="10776020" cy="3315056"/>
            <a:chOff x="0" y="0"/>
            <a:chExt cx="2449575" cy="51358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449575" cy="513589"/>
            </a:xfrm>
            <a:custGeom>
              <a:avLst/>
              <a:gdLst/>
              <a:ahLst/>
              <a:cxnLst/>
              <a:rect l="l" t="t" r="r" b="b"/>
              <a:pathLst>
                <a:path w="2449575" h="513589">
                  <a:moveTo>
                    <a:pt x="0" y="0"/>
                  </a:moveTo>
                  <a:lnTo>
                    <a:pt x="2449575" y="0"/>
                  </a:lnTo>
                  <a:lnTo>
                    <a:pt x="2449575" y="513589"/>
                  </a:lnTo>
                  <a:lnTo>
                    <a:pt x="0" y="513589"/>
                  </a:lnTo>
                  <a:close/>
                </a:path>
              </a:pathLst>
            </a:custGeom>
            <a:blipFill>
              <a:blip r:embed="rId2"/>
              <a:stretch>
                <a:fillRect l="-1444" r="-1444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028700" y="1346515"/>
            <a:ext cx="12787669" cy="1345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60"/>
              </a:lnSpc>
            </a:pPr>
            <a:r>
              <a:rPr lang="en-US" sz="7400" b="1">
                <a:solidFill>
                  <a:srgbClr val="1F2937"/>
                </a:solidFill>
                <a:latin typeface="Poppins Bold"/>
                <a:ea typeface="Poppins Bold"/>
                <a:cs typeface="Poppins Bold"/>
                <a:sym typeface="Poppins Bold"/>
              </a:rPr>
              <a:t>DATA VALIDATION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82120" y="3609165"/>
            <a:ext cx="4491102" cy="7399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1">
                <a:solidFill>
                  <a:srgbClr val="1F29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Checking NULL Values in</a:t>
            </a:r>
          </a:p>
          <a:p>
            <a:pPr algn="l">
              <a:lnSpc>
                <a:spcPts val="3779"/>
              </a:lnSpc>
            </a:pPr>
            <a:r>
              <a:rPr lang="en-US" sz="2699" b="1">
                <a:solidFill>
                  <a:srgbClr val="1F29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Customers Table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SELECT *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FROM Customers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WHERE CustomerKey IS NULL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  OR Name IS NULL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  OR Gender IS NULL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  OR City IS NULL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  OR State_Code IS NULL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  OR State IS NULL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  OR Zip_Code IS NULL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  OR Country IS NULL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  OR Continent IS NULL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   OR Birthday IS NULL;</a:t>
            </a:r>
          </a:p>
          <a:p>
            <a:pPr algn="l">
              <a:lnSpc>
                <a:spcPts val="3779"/>
              </a:lnSpc>
            </a:pPr>
            <a:endParaRPr lang="en-US" sz="2400">
              <a:solidFill>
                <a:srgbClr val="1F2937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779"/>
              </a:lnSpc>
            </a:pPr>
            <a:r>
              <a:rPr lang="en-US" sz="2699" b="1">
                <a:solidFill>
                  <a:srgbClr val="1F29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</a:p>
          <a:p>
            <a:pPr algn="l">
              <a:lnSpc>
                <a:spcPts val="3779"/>
              </a:lnSpc>
            </a:pPr>
            <a:endParaRPr lang="en-US" sz="2699" b="1">
              <a:solidFill>
                <a:srgbClr val="1F2937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7595003" y="793769"/>
            <a:ext cx="3097995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F7F9F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Global retail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3488443"/>
            <a:chOff x="0" y="0"/>
            <a:chExt cx="4816593" cy="9187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918767"/>
            </a:xfrm>
            <a:custGeom>
              <a:avLst/>
              <a:gdLst/>
              <a:ahLst/>
              <a:cxnLst/>
              <a:rect l="l" t="t" r="r" b="b"/>
              <a:pathLst>
                <a:path w="4816592" h="918767">
                  <a:moveTo>
                    <a:pt x="0" y="0"/>
                  </a:moveTo>
                  <a:lnTo>
                    <a:pt x="4816592" y="0"/>
                  </a:lnTo>
                  <a:lnTo>
                    <a:pt x="4816592" y="918767"/>
                  </a:lnTo>
                  <a:lnTo>
                    <a:pt x="0" y="918767"/>
                  </a:lnTo>
                  <a:close/>
                </a:path>
              </a:pathLst>
            </a:custGeom>
            <a:solidFill>
              <a:srgbClr val="F7F9F7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9568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0" y="1014413"/>
            <a:ext cx="18288000" cy="0"/>
          </a:xfrm>
          <a:prstGeom prst="line">
            <a:avLst/>
          </a:prstGeom>
          <a:ln w="19050" cap="flat">
            <a:solidFill>
              <a:srgbClr val="1F29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0" y="3054021"/>
            <a:ext cx="18288000" cy="0"/>
          </a:xfrm>
          <a:prstGeom prst="line">
            <a:avLst/>
          </a:prstGeom>
          <a:ln w="19050" cap="flat">
            <a:solidFill>
              <a:srgbClr val="1F2937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7024223" y="662724"/>
            <a:ext cx="4239554" cy="731951"/>
            <a:chOff x="0" y="0"/>
            <a:chExt cx="2353920" cy="4064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353920" cy="406400"/>
            </a:xfrm>
            <a:custGeom>
              <a:avLst/>
              <a:gdLst/>
              <a:ahLst/>
              <a:cxnLst/>
              <a:rect l="l" t="t" r="r" b="b"/>
              <a:pathLst>
                <a:path w="2353920" h="406400">
                  <a:moveTo>
                    <a:pt x="2150720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2150720" y="406400"/>
                  </a:lnTo>
                  <a:lnTo>
                    <a:pt x="2353920" y="203200"/>
                  </a:lnTo>
                  <a:lnTo>
                    <a:pt x="2150720" y="0"/>
                  </a:lnTo>
                  <a:close/>
                </a:path>
              </a:pathLst>
            </a:custGeom>
            <a:solidFill>
              <a:srgbClr val="2563EB"/>
            </a:solidFill>
            <a:ln w="28575" cap="sq">
              <a:solidFill>
                <a:srgbClr val="1F2937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52400" y="-47625"/>
              <a:ext cx="2049120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28700" y="1346515"/>
            <a:ext cx="12787669" cy="1345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60"/>
              </a:lnSpc>
            </a:pPr>
            <a:r>
              <a:rPr lang="en-US" sz="7400" b="1">
                <a:solidFill>
                  <a:srgbClr val="1F2937"/>
                </a:solidFill>
                <a:latin typeface="Poppins Bold"/>
                <a:ea typeface="Poppins Bold"/>
                <a:cs typeface="Poppins Bold"/>
                <a:sym typeface="Poppins Bold"/>
              </a:rPr>
              <a:t>Data Cleaning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3986512"/>
            <a:ext cx="9547329" cy="5812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06"/>
              </a:lnSpc>
            </a:pPr>
            <a:r>
              <a:rPr lang="en-US" sz="3647" b="1">
                <a:solidFill>
                  <a:srgbClr val="1F2937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-- </a:t>
            </a:r>
            <a:r>
              <a:rPr lang="en-US" sz="3647">
                <a:solidFill>
                  <a:srgbClr val="1F2937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Data Type Validation</a:t>
            </a:r>
          </a:p>
          <a:p>
            <a:pPr algn="l">
              <a:lnSpc>
                <a:spcPts val="5106"/>
              </a:lnSpc>
            </a:pPr>
            <a:r>
              <a:rPr lang="en-US" sz="3647">
                <a:solidFill>
                  <a:srgbClr val="1F2937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-- ZIP Code Validation</a:t>
            </a:r>
          </a:p>
          <a:p>
            <a:pPr algn="l">
              <a:lnSpc>
                <a:spcPts val="5106"/>
              </a:lnSpc>
            </a:pPr>
            <a:r>
              <a:rPr lang="en-US" sz="3647">
                <a:solidFill>
                  <a:srgbClr val="1F2937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-- NULL Handling</a:t>
            </a:r>
          </a:p>
          <a:p>
            <a:pPr algn="l">
              <a:lnSpc>
                <a:spcPts val="5106"/>
              </a:lnSpc>
            </a:pPr>
            <a:r>
              <a:rPr lang="en-US" sz="3647">
                <a:solidFill>
                  <a:srgbClr val="1F2937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-- Missing Value Verification</a:t>
            </a:r>
          </a:p>
          <a:p>
            <a:pPr algn="l">
              <a:lnSpc>
                <a:spcPts val="5106"/>
              </a:lnSpc>
            </a:pPr>
            <a:r>
              <a:rPr lang="en-US" sz="3647">
                <a:solidFill>
                  <a:srgbClr val="1F2937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-- Duplicate Validation</a:t>
            </a:r>
          </a:p>
          <a:p>
            <a:pPr algn="l">
              <a:lnSpc>
                <a:spcPts val="5106"/>
              </a:lnSpc>
            </a:pPr>
            <a:r>
              <a:rPr lang="en-US" sz="3647">
                <a:solidFill>
                  <a:srgbClr val="1F2937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-- Exchange Rate Validation</a:t>
            </a:r>
          </a:p>
          <a:p>
            <a:pPr algn="l">
              <a:lnSpc>
                <a:spcPts val="5106"/>
              </a:lnSpc>
            </a:pPr>
            <a:r>
              <a:rPr lang="en-US" sz="3647">
                <a:solidFill>
                  <a:srgbClr val="1F2937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-- Date Format Validation</a:t>
            </a:r>
          </a:p>
          <a:p>
            <a:pPr algn="l">
              <a:lnSpc>
                <a:spcPts val="5106"/>
              </a:lnSpc>
            </a:pPr>
            <a:r>
              <a:rPr lang="en-US" sz="3647">
                <a:solidFill>
                  <a:srgbClr val="1F2937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--No major data cleaning was required because the dataset was already structured.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95003" y="793769"/>
            <a:ext cx="3097995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F7F9F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Global retail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3488443"/>
            <a:chOff x="0" y="0"/>
            <a:chExt cx="4816593" cy="9187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918767"/>
            </a:xfrm>
            <a:custGeom>
              <a:avLst/>
              <a:gdLst/>
              <a:ahLst/>
              <a:cxnLst/>
              <a:rect l="l" t="t" r="r" b="b"/>
              <a:pathLst>
                <a:path w="4816592" h="918767">
                  <a:moveTo>
                    <a:pt x="0" y="0"/>
                  </a:moveTo>
                  <a:lnTo>
                    <a:pt x="4816592" y="0"/>
                  </a:lnTo>
                  <a:lnTo>
                    <a:pt x="4816592" y="918767"/>
                  </a:lnTo>
                  <a:lnTo>
                    <a:pt x="0" y="918767"/>
                  </a:lnTo>
                  <a:close/>
                </a:path>
              </a:pathLst>
            </a:custGeom>
            <a:solidFill>
              <a:srgbClr val="F7F9F7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9568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0" y="475399"/>
            <a:ext cx="18245038" cy="0"/>
          </a:xfrm>
          <a:prstGeom prst="line">
            <a:avLst/>
          </a:prstGeom>
          <a:ln w="19050" cap="flat">
            <a:solidFill>
              <a:srgbClr val="1F29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0" y="2263765"/>
            <a:ext cx="18288000" cy="0"/>
          </a:xfrm>
          <a:prstGeom prst="line">
            <a:avLst/>
          </a:prstGeom>
          <a:ln w="19050" cap="flat">
            <a:solidFill>
              <a:srgbClr val="1F2937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6794781" y="109424"/>
            <a:ext cx="4239554" cy="731951"/>
            <a:chOff x="0" y="0"/>
            <a:chExt cx="2353920" cy="4064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353920" cy="406400"/>
            </a:xfrm>
            <a:custGeom>
              <a:avLst/>
              <a:gdLst/>
              <a:ahLst/>
              <a:cxnLst/>
              <a:rect l="l" t="t" r="r" b="b"/>
              <a:pathLst>
                <a:path w="2353920" h="406400">
                  <a:moveTo>
                    <a:pt x="2150720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2150720" y="406400"/>
                  </a:lnTo>
                  <a:lnTo>
                    <a:pt x="2353920" y="203200"/>
                  </a:lnTo>
                  <a:lnTo>
                    <a:pt x="2150720" y="0"/>
                  </a:lnTo>
                  <a:close/>
                </a:path>
              </a:pathLst>
            </a:custGeom>
            <a:solidFill>
              <a:srgbClr val="2563EB"/>
            </a:solidFill>
            <a:ln w="28575" cap="sq">
              <a:solidFill>
                <a:srgbClr val="1F2937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52400" y="-47625"/>
              <a:ext cx="2049120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400946" y="641350"/>
            <a:ext cx="12787669" cy="126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00"/>
              </a:lnSpc>
            </a:pPr>
            <a:r>
              <a:rPr lang="en-US" sz="7000" b="1">
                <a:solidFill>
                  <a:srgbClr val="1F2937"/>
                </a:solidFill>
                <a:latin typeface="Poppins Bold"/>
                <a:ea typeface="Poppins Bold"/>
                <a:cs typeface="Poppins Bold"/>
                <a:sym typeface="Poppins Bold"/>
              </a:rPr>
              <a:t>Data Modeling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76098" y="2578090"/>
            <a:ext cx="16852696" cy="7474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2"/>
              </a:lnSpc>
            </a:pPr>
            <a:r>
              <a:rPr lang="en-US" sz="2601">
                <a:solidFill>
                  <a:srgbClr val="FF3131"/>
                </a:solidFill>
                <a:latin typeface="Lexend Deca"/>
                <a:ea typeface="Lexend Deca"/>
                <a:cs typeface="Lexend Deca"/>
                <a:sym typeface="Lexend Deca"/>
              </a:rPr>
              <a:t>Fact Table – Sales</a:t>
            </a:r>
          </a:p>
          <a:p>
            <a:pPr algn="l">
              <a:lnSpc>
                <a:spcPts val="3642"/>
              </a:lnSpc>
            </a:pPr>
            <a:r>
              <a:rPr lang="en-US" sz="2601">
                <a:solidFill>
                  <a:srgbClr val="1F2937"/>
                </a:solidFill>
                <a:latin typeface="Lexend Deca"/>
                <a:ea typeface="Lexend Deca"/>
                <a:cs typeface="Lexend Deca"/>
                <a:sym typeface="Lexend Deca"/>
              </a:rPr>
              <a:t>Reason for selecting Sales as the Fact Table:</a:t>
            </a:r>
          </a:p>
          <a:p>
            <a:pPr marL="541124" lvl="1" indent="-270562" algn="l">
              <a:lnSpc>
                <a:spcPts val="3508"/>
              </a:lnSpc>
              <a:buFont typeface="Arial"/>
              <a:buChar char="•"/>
            </a:pPr>
            <a:r>
              <a:rPr lang="en-US" sz="2506">
                <a:solidFill>
                  <a:srgbClr val="1F2937"/>
                </a:solidFill>
                <a:latin typeface="Lexend Deca"/>
                <a:ea typeface="Lexend Deca"/>
                <a:cs typeface="Lexend Deca"/>
                <a:sym typeface="Lexend Deca"/>
              </a:rPr>
              <a:t>Stores every sales transaction (one record per order).</a:t>
            </a:r>
          </a:p>
          <a:p>
            <a:pPr marL="541124" lvl="1" indent="-270562" algn="l">
              <a:lnSpc>
                <a:spcPts val="3508"/>
              </a:lnSpc>
              <a:buFont typeface="Arial"/>
              <a:buChar char="•"/>
            </a:pPr>
            <a:r>
              <a:rPr lang="en-US" sz="2506">
                <a:solidFill>
                  <a:srgbClr val="1F2937"/>
                </a:solidFill>
                <a:latin typeface="Lexend Deca"/>
                <a:ea typeface="Lexend Deca"/>
                <a:cs typeface="Lexend Deca"/>
                <a:sym typeface="Lexend Deca"/>
              </a:rPr>
              <a:t>Contains measurable business metrics such as Quantity, Revenue, and Order Details.</a:t>
            </a:r>
          </a:p>
          <a:p>
            <a:pPr marL="541124" lvl="1" indent="-270562" algn="l">
              <a:lnSpc>
                <a:spcPts val="3508"/>
              </a:lnSpc>
              <a:buFont typeface="Arial"/>
              <a:buChar char="•"/>
            </a:pPr>
            <a:r>
              <a:rPr lang="en-US" sz="2506">
                <a:solidFill>
                  <a:srgbClr val="1F2937"/>
                </a:solidFill>
                <a:latin typeface="Lexend Deca"/>
                <a:ea typeface="Lexend Deca"/>
                <a:cs typeface="Lexend Deca"/>
                <a:sym typeface="Lexend Deca"/>
              </a:rPr>
              <a:t>Connects all business entities using CustomerKey, ProductKey, and StoreKey.</a:t>
            </a:r>
          </a:p>
          <a:p>
            <a:pPr marL="541124" lvl="1" indent="-270562" algn="l">
              <a:lnSpc>
                <a:spcPts val="3508"/>
              </a:lnSpc>
              <a:buFont typeface="Arial"/>
              <a:buChar char="•"/>
            </a:pPr>
            <a:r>
              <a:rPr lang="en-US" sz="2506">
                <a:solidFill>
                  <a:srgbClr val="1F2937"/>
                </a:solidFill>
                <a:latin typeface="Lexend Deca"/>
                <a:ea typeface="Lexend Deca"/>
                <a:cs typeface="Lexend Deca"/>
                <a:sym typeface="Lexend Deca"/>
              </a:rPr>
              <a:t>Acts as the central table for  business analyses.</a:t>
            </a:r>
          </a:p>
          <a:p>
            <a:pPr marL="541124" lvl="1" indent="-270562" algn="l">
              <a:lnSpc>
                <a:spcPts val="3508"/>
              </a:lnSpc>
              <a:buFont typeface="Arial"/>
              <a:buChar char="•"/>
            </a:pPr>
            <a:r>
              <a:rPr lang="en-US" sz="2506">
                <a:solidFill>
                  <a:srgbClr val="1F2937"/>
                </a:solidFill>
                <a:latin typeface="Lexend Deca"/>
                <a:ea typeface="Lexend Deca"/>
                <a:cs typeface="Lexend Deca"/>
                <a:sym typeface="Lexend Deca"/>
              </a:rPr>
              <a:t>Used to calculate KPIs such as Revenue, Profit, Orders, and Sales Trends.</a:t>
            </a:r>
          </a:p>
          <a:p>
            <a:pPr algn="l">
              <a:lnSpc>
                <a:spcPts val="3642"/>
              </a:lnSpc>
            </a:pPr>
            <a:r>
              <a:rPr lang="en-US" sz="2601">
                <a:solidFill>
                  <a:srgbClr val="FF5757"/>
                </a:solidFill>
                <a:latin typeface="Lexend Deca"/>
                <a:ea typeface="Lexend Deca"/>
                <a:cs typeface="Lexend Deca"/>
                <a:sym typeface="Lexend Deca"/>
              </a:rPr>
              <a:t>Dimension Tables</a:t>
            </a:r>
          </a:p>
          <a:p>
            <a:pPr algn="l">
              <a:lnSpc>
                <a:spcPts val="3375"/>
              </a:lnSpc>
            </a:pPr>
            <a:r>
              <a:rPr lang="en-US" sz="2410">
                <a:solidFill>
                  <a:srgbClr val="1F2937"/>
                </a:solidFill>
                <a:latin typeface="Lexend Deca"/>
                <a:ea typeface="Lexend Deca"/>
                <a:cs typeface="Lexend Deca"/>
                <a:sym typeface="Lexend Deca"/>
              </a:rPr>
              <a:t>Customers</a:t>
            </a:r>
          </a:p>
          <a:p>
            <a:pPr marL="520493" lvl="1" indent="-260247" algn="l">
              <a:lnSpc>
                <a:spcPts val="3375"/>
              </a:lnSpc>
              <a:buFont typeface="Arial"/>
              <a:buChar char="•"/>
            </a:pPr>
            <a:r>
              <a:rPr lang="en-US" sz="2410">
                <a:solidFill>
                  <a:srgbClr val="1F2937"/>
                </a:solidFill>
                <a:latin typeface="Lexend Deca"/>
                <a:ea typeface="Lexend Deca"/>
                <a:cs typeface="Lexend Deca"/>
                <a:sym typeface="Lexend Deca"/>
              </a:rPr>
              <a:t>Provides customer information for customer behavior and segmentation analysis.</a:t>
            </a:r>
          </a:p>
          <a:p>
            <a:pPr algn="l">
              <a:lnSpc>
                <a:spcPts val="3375"/>
              </a:lnSpc>
            </a:pPr>
            <a:r>
              <a:rPr lang="en-US" sz="2410">
                <a:solidFill>
                  <a:srgbClr val="1F2937"/>
                </a:solidFill>
                <a:latin typeface="Lexend Deca"/>
                <a:ea typeface="Lexend Deca"/>
                <a:cs typeface="Lexend Deca"/>
                <a:sym typeface="Lexend Deca"/>
              </a:rPr>
              <a:t>Products</a:t>
            </a:r>
          </a:p>
          <a:p>
            <a:pPr marL="520493" lvl="1" indent="-260247" algn="l">
              <a:lnSpc>
                <a:spcPts val="3375"/>
              </a:lnSpc>
              <a:buFont typeface="Arial"/>
              <a:buChar char="•"/>
            </a:pPr>
            <a:r>
              <a:rPr lang="en-US" sz="2410">
                <a:solidFill>
                  <a:srgbClr val="1F2937"/>
                </a:solidFill>
                <a:latin typeface="Lexend Deca"/>
                <a:ea typeface="Lexend Deca"/>
                <a:cs typeface="Lexend Deca"/>
                <a:sym typeface="Lexend Deca"/>
              </a:rPr>
              <a:t>Provides product attributes (Category, Brand, Cost, Price) for product performance and profitability analysis.</a:t>
            </a:r>
          </a:p>
          <a:p>
            <a:pPr algn="l">
              <a:lnSpc>
                <a:spcPts val="3375"/>
              </a:lnSpc>
            </a:pPr>
            <a:r>
              <a:rPr lang="en-US" sz="2410">
                <a:solidFill>
                  <a:srgbClr val="1F2937"/>
                </a:solidFill>
                <a:latin typeface="Lexend Deca"/>
                <a:ea typeface="Lexend Deca"/>
                <a:cs typeface="Lexend Deca"/>
                <a:sym typeface="Lexend Deca"/>
              </a:rPr>
              <a:t>Stores</a:t>
            </a:r>
          </a:p>
          <a:p>
            <a:pPr marL="520493" lvl="1" indent="-260247" algn="l">
              <a:lnSpc>
                <a:spcPts val="3375"/>
              </a:lnSpc>
              <a:buFont typeface="Arial"/>
              <a:buChar char="•"/>
            </a:pPr>
            <a:r>
              <a:rPr lang="en-US" sz="2410">
                <a:solidFill>
                  <a:srgbClr val="1F2937"/>
                </a:solidFill>
                <a:latin typeface="Lexend Deca"/>
                <a:ea typeface="Lexend Deca"/>
                <a:cs typeface="Lexend Deca"/>
                <a:sym typeface="Lexend Deca"/>
              </a:rPr>
              <a:t>Provides store location details for store performance and delivery analysis.</a:t>
            </a:r>
          </a:p>
          <a:p>
            <a:pPr algn="l">
              <a:lnSpc>
                <a:spcPts val="3375"/>
              </a:lnSpc>
            </a:pPr>
            <a:r>
              <a:rPr lang="en-US" sz="2410">
                <a:solidFill>
                  <a:srgbClr val="1F2937"/>
                </a:solidFill>
                <a:latin typeface="Lexend Deca"/>
                <a:ea typeface="Lexend Deca"/>
                <a:cs typeface="Lexend Deca"/>
                <a:sym typeface="Lexend Deca"/>
              </a:rPr>
              <a:t>Exchange_Rates</a:t>
            </a:r>
          </a:p>
          <a:p>
            <a:pPr marL="520493" lvl="1" indent="-260247" algn="l">
              <a:lnSpc>
                <a:spcPts val="3375"/>
              </a:lnSpc>
              <a:buFont typeface="Arial"/>
              <a:buChar char="•"/>
            </a:pPr>
            <a:r>
              <a:rPr lang="en-US" sz="2410">
                <a:solidFill>
                  <a:srgbClr val="1F2937"/>
                </a:solidFill>
                <a:latin typeface="Lexend Deca"/>
                <a:ea typeface="Lexend Deca"/>
                <a:cs typeface="Lexend Deca"/>
                <a:sym typeface="Lexend Deca"/>
              </a:rPr>
              <a:t>Provides currency conversion rates to calculate revenue in local currency for global sales analysis.</a:t>
            </a:r>
          </a:p>
          <a:p>
            <a:pPr algn="l">
              <a:lnSpc>
                <a:spcPts val="4044"/>
              </a:lnSpc>
            </a:pPr>
            <a:endParaRPr lang="en-US" sz="2410">
              <a:solidFill>
                <a:srgbClr val="1F2937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7024223" y="240449"/>
            <a:ext cx="3097995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F7F9F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Global retail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3488443"/>
            <a:chOff x="0" y="0"/>
            <a:chExt cx="4816593" cy="9187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918767"/>
            </a:xfrm>
            <a:custGeom>
              <a:avLst/>
              <a:gdLst/>
              <a:ahLst/>
              <a:cxnLst/>
              <a:rect l="l" t="t" r="r" b="b"/>
              <a:pathLst>
                <a:path w="4816592" h="918767">
                  <a:moveTo>
                    <a:pt x="0" y="0"/>
                  </a:moveTo>
                  <a:lnTo>
                    <a:pt x="4816592" y="0"/>
                  </a:lnTo>
                  <a:lnTo>
                    <a:pt x="4816592" y="918767"/>
                  </a:lnTo>
                  <a:lnTo>
                    <a:pt x="0" y="918767"/>
                  </a:lnTo>
                  <a:close/>
                </a:path>
              </a:pathLst>
            </a:custGeom>
            <a:solidFill>
              <a:srgbClr val="F7F9F7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9568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0" y="1014413"/>
            <a:ext cx="18288000" cy="0"/>
          </a:xfrm>
          <a:prstGeom prst="line">
            <a:avLst/>
          </a:prstGeom>
          <a:ln w="19050" cap="flat">
            <a:solidFill>
              <a:srgbClr val="1F29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0" y="3054021"/>
            <a:ext cx="18288000" cy="0"/>
          </a:xfrm>
          <a:prstGeom prst="line">
            <a:avLst/>
          </a:prstGeom>
          <a:ln w="19050" cap="flat">
            <a:solidFill>
              <a:srgbClr val="1F2937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9144000" y="4031368"/>
            <a:ext cx="7563434" cy="5953424"/>
            <a:chOff x="0" y="0"/>
            <a:chExt cx="1171774" cy="92234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71774" cy="922341"/>
            </a:xfrm>
            <a:custGeom>
              <a:avLst/>
              <a:gdLst/>
              <a:ahLst/>
              <a:cxnLst/>
              <a:rect l="l" t="t" r="r" b="b"/>
              <a:pathLst>
                <a:path w="1171774" h="922341">
                  <a:moveTo>
                    <a:pt x="0" y="0"/>
                  </a:moveTo>
                  <a:lnTo>
                    <a:pt x="1171774" y="0"/>
                  </a:lnTo>
                  <a:lnTo>
                    <a:pt x="1171774" y="922341"/>
                  </a:lnTo>
                  <a:lnTo>
                    <a:pt x="0" y="922341"/>
                  </a:lnTo>
                  <a:close/>
                </a:path>
              </a:pathLst>
            </a:custGeom>
            <a:blipFill>
              <a:blip r:embed="rId2"/>
              <a:stretch>
                <a:fillRect t="-681" b="-681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7024223" y="662724"/>
            <a:ext cx="4239554" cy="731951"/>
            <a:chOff x="0" y="0"/>
            <a:chExt cx="2353920" cy="406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353920" cy="406400"/>
            </a:xfrm>
            <a:custGeom>
              <a:avLst/>
              <a:gdLst/>
              <a:ahLst/>
              <a:cxnLst/>
              <a:rect l="l" t="t" r="r" b="b"/>
              <a:pathLst>
                <a:path w="2353920" h="406400">
                  <a:moveTo>
                    <a:pt x="2150720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2150720" y="406400"/>
                  </a:lnTo>
                  <a:lnTo>
                    <a:pt x="2353920" y="203200"/>
                  </a:lnTo>
                  <a:lnTo>
                    <a:pt x="2150720" y="0"/>
                  </a:lnTo>
                  <a:close/>
                </a:path>
              </a:pathLst>
            </a:custGeom>
            <a:solidFill>
              <a:srgbClr val="2563EB"/>
            </a:solidFill>
            <a:ln w="28575" cap="sq">
              <a:solidFill>
                <a:srgbClr val="1F2937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52400" y="-47625"/>
              <a:ext cx="2049120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12872" y="5023791"/>
            <a:ext cx="7563434" cy="4120780"/>
            <a:chOff x="0" y="0"/>
            <a:chExt cx="1171774" cy="63841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71774" cy="638417"/>
            </a:xfrm>
            <a:custGeom>
              <a:avLst/>
              <a:gdLst/>
              <a:ahLst/>
              <a:cxnLst/>
              <a:rect l="l" t="t" r="r" b="b"/>
              <a:pathLst>
                <a:path w="1171774" h="638417">
                  <a:moveTo>
                    <a:pt x="0" y="0"/>
                  </a:moveTo>
                  <a:lnTo>
                    <a:pt x="1171774" y="0"/>
                  </a:lnTo>
                  <a:lnTo>
                    <a:pt x="1171774" y="638417"/>
                  </a:lnTo>
                  <a:lnTo>
                    <a:pt x="0" y="638417"/>
                  </a:lnTo>
                  <a:close/>
                </a:path>
              </a:pathLst>
            </a:custGeom>
            <a:blipFill>
              <a:blip r:embed="rId3"/>
              <a:stretch>
                <a:fillRect l="-3681" r="-3681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1028700" y="1346515"/>
            <a:ext cx="12787669" cy="1345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60"/>
              </a:lnSpc>
            </a:pPr>
            <a:r>
              <a:rPr lang="en-US" sz="7400" b="1">
                <a:solidFill>
                  <a:srgbClr val="1F2937"/>
                </a:solidFill>
                <a:latin typeface="Poppins Bold"/>
                <a:ea typeface="Poppins Bold"/>
                <a:cs typeface="Poppins Bold"/>
                <a:sym typeface="Poppins Bold"/>
              </a:rPr>
              <a:t>Customer Analysis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12872" y="3358821"/>
            <a:ext cx="17062255" cy="941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1">
                <a:solidFill>
                  <a:srgbClr val="1F29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Write a query to display every sales order along with the corresponding customer name, product name, and quantity purchased.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595003" y="793769"/>
            <a:ext cx="3097995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F7F9F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Global retail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3488443"/>
            <a:chOff x="0" y="0"/>
            <a:chExt cx="4816593" cy="9187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918767"/>
            </a:xfrm>
            <a:custGeom>
              <a:avLst/>
              <a:gdLst/>
              <a:ahLst/>
              <a:cxnLst/>
              <a:rect l="l" t="t" r="r" b="b"/>
              <a:pathLst>
                <a:path w="4816592" h="918767">
                  <a:moveTo>
                    <a:pt x="0" y="0"/>
                  </a:moveTo>
                  <a:lnTo>
                    <a:pt x="4816592" y="0"/>
                  </a:lnTo>
                  <a:lnTo>
                    <a:pt x="4816592" y="918767"/>
                  </a:lnTo>
                  <a:lnTo>
                    <a:pt x="0" y="918767"/>
                  </a:lnTo>
                  <a:close/>
                </a:path>
              </a:pathLst>
            </a:custGeom>
            <a:solidFill>
              <a:srgbClr val="F7F9F7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9568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0" y="1014413"/>
            <a:ext cx="18288000" cy="0"/>
          </a:xfrm>
          <a:prstGeom prst="line">
            <a:avLst/>
          </a:prstGeom>
          <a:ln w="19050" cap="flat">
            <a:solidFill>
              <a:srgbClr val="1F29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0" y="3054021"/>
            <a:ext cx="18288000" cy="0"/>
          </a:xfrm>
          <a:prstGeom prst="line">
            <a:avLst/>
          </a:prstGeom>
          <a:ln w="19050" cap="flat">
            <a:solidFill>
              <a:srgbClr val="1F2937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9821583" y="4366566"/>
            <a:ext cx="6907670" cy="13873202"/>
            <a:chOff x="0" y="0"/>
            <a:chExt cx="1171774" cy="23533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71774" cy="2353363"/>
            </a:xfrm>
            <a:custGeom>
              <a:avLst/>
              <a:gdLst/>
              <a:ahLst/>
              <a:cxnLst/>
              <a:rect l="l" t="t" r="r" b="b"/>
              <a:pathLst>
                <a:path w="1171774" h="2353363">
                  <a:moveTo>
                    <a:pt x="0" y="0"/>
                  </a:moveTo>
                  <a:lnTo>
                    <a:pt x="1171774" y="0"/>
                  </a:lnTo>
                  <a:lnTo>
                    <a:pt x="1171774" y="2353363"/>
                  </a:lnTo>
                  <a:lnTo>
                    <a:pt x="0" y="2353363"/>
                  </a:lnTo>
                  <a:close/>
                </a:path>
              </a:pathLst>
            </a:custGeom>
            <a:blipFill>
              <a:blip r:embed="rId2"/>
              <a:stretch>
                <a:fillRect t="-434" b="-434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7024223" y="662724"/>
            <a:ext cx="4239554" cy="731951"/>
            <a:chOff x="0" y="0"/>
            <a:chExt cx="2353920" cy="406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353920" cy="406400"/>
            </a:xfrm>
            <a:custGeom>
              <a:avLst/>
              <a:gdLst/>
              <a:ahLst/>
              <a:cxnLst/>
              <a:rect l="l" t="t" r="r" b="b"/>
              <a:pathLst>
                <a:path w="2353920" h="406400">
                  <a:moveTo>
                    <a:pt x="2150720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2150720" y="406400"/>
                  </a:lnTo>
                  <a:lnTo>
                    <a:pt x="2353920" y="203200"/>
                  </a:lnTo>
                  <a:lnTo>
                    <a:pt x="2150720" y="0"/>
                  </a:lnTo>
                  <a:close/>
                </a:path>
              </a:pathLst>
            </a:custGeom>
            <a:solidFill>
              <a:srgbClr val="2563EB"/>
            </a:solidFill>
            <a:ln w="28575" cap="sq">
              <a:solidFill>
                <a:srgbClr val="1F2937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52400" y="-47625"/>
              <a:ext cx="2049120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28700" y="4652316"/>
            <a:ext cx="7774037" cy="5196114"/>
            <a:chOff x="0" y="0"/>
            <a:chExt cx="1171774" cy="78320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71774" cy="783206"/>
            </a:xfrm>
            <a:custGeom>
              <a:avLst/>
              <a:gdLst/>
              <a:ahLst/>
              <a:cxnLst/>
              <a:rect l="l" t="t" r="r" b="b"/>
              <a:pathLst>
                <a:path w="1171774" h="783206">
                  <a:moveTo>
                    <a:pt x="0" y="0"/>
                  </a:moveTo>
                  <a:lnTo>
                    <a:pt x="1171774" y="0"/>
                  </a:lnTo>
                  <a:lnTo>
                    <a:pt x="1171774" y="783206"/>
                  </a:lnTo>
                  <a:lnTo>
                    <a:pt x="0" y="783206"/>
                  </a:lnTo>
                  <a:close/>
                </a:path>
              </a:pathLst>
            </a:custGeom>
            <a:blipFill>
              <a:blip r:embed="rId3"/>
              <a:stretch>
                <a:fillRect l="-759" r="-759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1028700" y="1346515"/>
            <a:ext cx="12787669" cy="1345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60"/>
              </a:lnSpc>
            </a:pPr>
            <a:r>
              <a:rPr lang="en-US" sz="7400" b="1">
                <a:solidFill>
                  <a:srgbClr val="1F2937"/>
                </a:solidFill>
                <a:latin typeface="Poppins Bold"/>
                <a:ea typeface="Poppins Bold"/>
                <a:cs typeface="Poppins Bold"/>
                <a:sym typeface="Poppins Bold"/>
              </a:rPr>
              <a:t>Customer Analysis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12872" y="3358821"/>
            <a:ext cx="17062255" cy="941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1">
                <a:solidFill>
                  <a:srgbClr val="1F29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Write a query to identify customers who have purchased products from more than one product category.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595003" y="793769"/>
            <a:ext cx="3097995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F7F9F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Global retail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3488443"/>
            <a:chOff x="0" y="0"/>
            <a:chExt cx="4816593" cy="9187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918767"/>
            </a:xfrm>
            <a:custGeom>
              <a:avLst/>
              <a:gdLst/>
              <a:ahLst/>
              <a:cxnLst/>
              <a:rect l="l" t="t" r="r" b="b"/>
              <a:pathLst>
                <a:path w="4816592" h="918767">
                  <a:moveTo>
                    <a:pt x="0" y="0"/>
                  </a:moveTo>
                  <a:lnTo>
                    <a:pt x="4816592" y="0"/>
                  </a:lnTo>
                  <a:lnTo>
                    <a:pt x="4816592" y="918767"/>
                  </a:lnTo>
                  <a:lnTo>
                    <a:pt x="0" y="918767"/>
                  </a:lnTo>
                  <a:close/>
                </a:path>
              </a:pathLst>
            </a:custGeom>
            <a:solidFill>
              <a:srgbClr val="F7F9F7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9568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0" y="578029"/>
            <a:ext cx="18288000" cy="0"/>
          </a:xfrm>
          <a:prstGeom prst="line">
            <a:avLst/>
          </a:prstGeom>
          <a:ln w="19050" cap="flat">
            <a:solidFill>
              <a:srgbClr val="1F29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 flipV="1">
            <a:off x="-1034176" y="2136966"/>
            <a:ext cx="19322176" cy="0"/>
          </a:xfrm>
          <a:prstGeom prst="line">
            <a:avLst/>
          </a:prstGeom>
          <a:ln w="19050" cap="flat">
            <a:solidFill>
              <a:srgbClr val="1F2937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8221675" y="4964818"/>
            <a:ext cx="9654021" cy="2912183"/>
            <a:chOff x="0" y="0"/>
            <a:chExt cx="3057604" cy="92234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057603" cy="922341"/>
            </a:xfrm>
            <a:custGeom>
              <a:avLst/>
              <a:gdLst/>
              <a:ahLst/>
              <a:cxnLst/>
              <a:rect l="l" t="t" r="r" b="b"/>
              <a:pathLst>
                <a:path w="3057603" h="922341">
                  <a:moveTo>
                    <a:pt x="0" y="0"/>
                  </a:moveTo>
                  <a:lnTo>
                    <a:pt x="3057603" y="0"/>
                  </a:lnTo>
                  <a:lnTo>
                    <a:pt x="3057603" y="922341"/>
                  </a:lnTo>
                  <a:lnTo>
                    <a:pt x="0" y="922341"/>
                  </a:lnTo>
                  <a:close/>
                </a:path>
              </a:pathLst>
            </a:custGeom>
            <a:blipFill>
              <a:blip r:embed="rId2"/>
              <a:stretch>
                <a:fillRect t="-1741" b="-1741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7024223" y="220728"/>
            <a:ext cx="4239554" cy="731951"/>
            <a:chOff x="0" y="0"/>
            <a:chExt cx="2353920" cy="406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353920" cy="406400"/>
            </a:xfrm>
            <a:custGeom>
              <a:avLst/>
              <a:gdLst/>
              <a:ahLst/>
              <a:cxnLst/>
              <a:rect l="l" t="t" r="r" b="b"/>
              <a:pathLst>
                <a:path w="2353920" h="406400">
                  <a:moveTo>
                    <a:pt x="2150720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2150720" y="406400"/>
                  </a:lnTo>
                  <a:lnTo>
                    <a:pt x="2353920" y="203200"/>
                  </a:lnTo>
                  <a:lnTo>
                    <a:pt x="2150720" y="0"/>
                  </a:lnTo>
                  <a:close/>
                </a:path>
              </a:pathLst>
            </a:custGeom>
            <a:solidFill>
              <a:srgbClr val="2563EB"/>
            </a:solidFill>
            <a:ln w="28575" cap="sq">
              <a:solidFill>
                <a:srgbClr val="1F2937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52400" y="-47625"/>
              <a:ext cx="2049120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53905" y="3297006"/>
            <a:ext cx="7631909" cy="6247807"/>
            <a:chOff x="0" y="0"/>
            <a:chExt cx="1317305" cy="107840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317305" cy="1078402"/>
            </a:xfrm>
            <a:custGeom>
              <a:avLst/>
              <a:gdLst/>
              <a:ahLst/>
              <a:cxnLst/>
              <a:rect l="l" t="t" r="r" b="b"/>
              <a:pathLst>
                <a:path w="1317305" h="1078402">
                  <a:moveTo>
                    <a:pt x="0" y="0"/>
                  </a:moveTo>
                  <a:lnTo>
                    <a:pt x="1317305" y="0"/>
                  </a:lnTo>
                  <a:lnTo>
                    <a:pt x="1317305" y="1078402"/>
                  </a:lnTo>
                  <a:lnTo>
                    <a:pt x="0" y="1078402"/>
                  </a:lnTo>
                  <a:close/>
                </a:path>
              </a:pathLst>
            </a:custGeom>
            <a:blipFill>
              <a:blip r:embed="rId3"/>
              <a:stretch>
                <a:fillRect l="-355" r="-355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1028700" y="762179"/>
            <a:ext cx="12787669" cy="1177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sz="6500" b="1">
                <a:solidFill>
                  <a:srgbClr val="1F2937"/>
                </a:solidFill>
                <a:latin typeface="Poppins Bold"/>
                <a:ea typeface="Poppins Bold"/>
                <a:cs typeface="Poppins Bold"/>
                <a:sym typeface="Poppins Bold"/>
              </a:rPr>
              <a:t>Product Analysis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53905" y="2487171"/>
            <a:ext cx="17062255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1">
                <a:solidFill>
                  <a:srgbClr val="1F29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Write a query to find the best-selling product (by revenue) within each product category.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422534" y="343079"/>
            <a:ext cx="3097995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F7F9F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Global retail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3488443"/>
            <a:chOff x="0" y="0"/>
            <a:chExt cx="4816593" cy="9187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918767"/>
            </a:xfrm>
            <a:custGeom>
              <a:avLst/>
              <a:gdLst/>
              <a:ahLst/>
              <a:cxnLst/>
              <a:rect l="l" t="t" r="r" b="b"/>
              <a:pathLst>
                <a:path w="4816592" h="918767">
                  <a:moveTo>
                    <a:pt x="0" y="0"/>
                  </a:moveTo>
                  <a:lnTo>
                    <a:pt x="4816592" y="0"/>
                  </a:lnTo>
                  <a:lnTo>
                    <a:pt x="4816592" y="918767"/>
                  </a:lnTo>
                  <a:lnTo>
                    <a:pt x="0" y="918767"/>
                  </a:lnTo>
                  <a:close/>
                </a:path>
              </a:pathLst>
            </a:custGeom>
            <a:solidFill>
              <a:srgbClr val="F7F9F7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9568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0" y="578029"/>
            <a:ext cx="18288000" cy="0"/>
          </a:xfrm>
          <a:prstGeom prst="line">
            <a:avLst/>
          </a:prstGeom>
          <a:ln w="19050" cap="flat">
            <a:solidFill>
              <a:srgbClr val="1F29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 flipV="1">
            <a:off x="-1034176" y="2136966"/>
            <a:ext cx="19322176" cy="0"/>
          </a:xfrm>
          <a:prstGeom prst="line">
            <a:avLst/>
          </a:prstGeom>
          <a:ln w="19050" cap="flat">
            <a:solidFill>
              <a:srgbClr val="1F2937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8422052" y="4850518"/>
            <a:ext cx="9653378" cy="2911989"/>
            <a:chOff x="0" y="0"/>
            <a:chExt cx="3057604" cy="92234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057603" cy="922341"/>
            </a:xfrm>
            <a:custGeom>
              <a:avLst/>
              <a:gdLst/>
              <a:ahLst/>
              <a:cxnLst/>
              <a:rect l="l" t="t" r="r" b="b"/>
              <a:pathLst>
                <a:path w="3057603" h="922341">
                  <a:moveTo>
                    <a:pt x="0" y="0"/>
                  </a:moveTo>
                  <a:lnTo>
                    <a:pt x="3057603" y="0"/>
                  </a:lnTo>
                  <a:lnTo>
                    <a:pt x="3057603" y="922341"/>
                  </a:lnTo>
                  <a:lnTo>
                    <a:pt x="0" y="922341"/>
                  </a:lnTo>
                  <a:close/>
                </a:path>
              </a:pathLst>
            </a:custGeom>
            <a:blipFill>
              <a:blip r:embed="rId2"/>
              <a:stretch>
                <a:fillRect t="-5258" r="-1967" b="-13638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7024223" y="220728"/>
            <a:ext cx="4239554" cy="731951"/>
            <a:chOff x="0" y="0"/>
            <a:chExt cx="2353920" cy="406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353920" cy="406400"/>
            </a:xfrm>
            <a:custGeom>
              <a:avLst/>
              <a:gdLst/>
              <a:ahLst/>
              <a:cxnLst/>
              <a:rect l="l" t="t" r="r" b="b"/>
              <a:pathLst>
                <a:path w="2353920" h="406400">
                  <a:moveTo>
                    <a:pt x="2150720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2150720" y="406400"/>
                  </a:lnTo>
                  <a:lnTo>
                    <a:pt x="2353920" y="203200"/>
                  </a:lnTo>
                  <a:lnTo>
                    <a:pt x="2150720" y="0"/>
                  </a:lnTo>
                  <a:close/>
                </a:path>
              </a:pathLst>
            </a:custGeom>
            <a:solidFill>
              <a:srgbClr val="2563EB"/>
            </a:solidFill>
            <a:ln w="28575" cap="sq">
              <a:solidFill>
                <a:srgbClr val="1F2937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52400" y="-47625"/>
              <a:ext cx="2049120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788392" y="3697161"/>
            <a:ext cx="6238702" cy="6351540"/>
            <a:chOff x="0" y="0"/>
            <a:chExt cx="1467499" cy="149404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467499" cy="1494041"/>
            </a:xfrm>
            <a:custGeom>
              <a:avLst/>
              <a:gdLst/>
              <a:ahLst/>
              <a:cxnLst/>
              <a:rect l="l" t="t" r="r" b="b"/>
              <a:pathLst>
                <a:path w="1467499" h="1494041">
                  <a:moveTo>
                    <a:pt x="0" y="0"/>
                  </a:moveTo>
                  <a:lnTo>
                    <a:pt x="1467499" y="0"/>
                  </a:lnTo>
                  <a:lnTo>
                    <a:pt x="1467499" y="1494041"/>
                  </a:lnTo>
                  <a:lnTo>
                    <a:pt x="0" y="1494041"/>
                  </a:lnTo>
                  <a:close/>
                </a:path>
              </a:pathLst>
            </a:custGeom>
            <a:blipFill>
              <a:blip r:embed="rId3"/>
              <a:stretch>
                <a:fillRect l="-2371" r="-2371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1028700" y="762179"/>
            <a:ext cx="12787669" cy="1177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sz="6500" b="1">
                <a:solidFill>
                  <a:srgbClr val="1F2937"/>
                </a:solidFill>
                <a:latin typeface="Poppins Bold"/>
                <a:ea typeface="Poppins Bold"/>
                <a:cs typeface="Poppins Bold"/>
                <a:sym typeface="Poppins Bold"/>
              </a:rPr>
              <a:t>Product Analysis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75724" y="2279841"/>
            <a:ext cx="17699706" cy="1417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1">
                <a:solidFill>
                  <a:srgbClr val="1F29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Finance wants to know which product categories generate the highest profit margin. Write a query to   display category, revenue, cost, profit, and profit percentage, sorted by profit percentage in descending order.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422534" y="343079"/>
            <a:ext cx="3097995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F7F9F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Global retail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3488443"/>
            <a:chOff x="0" y="0"/>
            <a:chExt cx="4816593" cy="9187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918767"/>
            </a:xfrm>
            <a:custGeom>
              <a:avLst/>
              <a:gdLst/>
              <a:ahLst/>
              <a:cxnLst/>
              <a:rect l="l" t="t" r="r" b="b"/>
              <a:pathLst>
                <a:path w="4816592" h="918767">
                  <a:moveTo>
                    <a:pt x="0" y="0"/>
                  </a:moveTo>
                  <a:lnTo>
                    <a:pt x="4816592" y="0"/>
                  </a:lnTo>
                  <a:lnTo>
                    <a:pt x="4816592" y="918767"/>
                  </a:lnTo>
                  <a:lnTo>
                    <a:pt x="0" y="918767"/>
                  </a:lnTo>
                  <a:close/>
                </a:path>
              </a:pathLst>
            </a:custGeom>
            <a:solidFill>
              <a:srgbClr val="F7F9F7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9568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0" y="578029"/>
            <a:ext cx="18288000" cy="0"/>
          </a:xfrm>
          <a:prstGeom prst="line">
            <a:avLst/>
          </a:prstGeom>
          <a:ln w="19050" cap="flat">
            <a:solidFill>
              <a:srgbClr val="1F29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 flipV="1">
            <a:off x="-1034176" y="2136966"/>
            <a:ext cx="19322176" cy="0"/>
          </a:xfrm>
          <a:prstGeom prst="line">
            <a:avLst/>
          </a:prstGeom>
          <a:ln w="19050" cap="flat">
            <a:solidFill>
              <a:srgbClr val="1F2937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9841610" y="4059111"/>
            <a:ext cx="7098662" cy="5770529"/>
            <a:chOff x="0" y="0"/>
            <a:chExt cx="3057604" cy="248553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057603" cy="2485537"/>
            </a:xfrm>
            <a:custGeom>
              <a:avLst/>
              <a:gdLst/>
              <a:ahLst/>
              <a:cxnLst/>
              <a:rect l="l" t="t" r="r" b="b"/>
              <a:pathLst>
                <a:path w="3057603" h="2485537">
                  <a:moveTo>
                    <a:pt x="0" y="0"/>
                  </a:moveTo>
                  <a:lnTo>
                    <a:pt x="3057603" y="0"/>
                  </a:lnTo>
                  <a:lnTo>
                    <a:pt x="3057603" y="2485537"/>
                  </a:lnTo>
                  <a:lnTo>
                    <a:pt x="0" y="2485537"/>
                  </a:lnTo>
                  <a:close/>
                </a:path>
              </a:pathLst>
            </a:custGeom>
            <a:blipFill>
              <a:blip r:embed="rId2"/>
              <a:stretch>
                <a:fillRect t="-882" b="-882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7024223" y="220728"/>
            <a:ext cx="4239554" cy="731951"/>
            <a:chOff x="0" y="0"/>
            <a:chExt cx="2353920" cy="406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353920" cy="406400"/>
            </a:xfrm>
            <a:custGeom>
              <a:avLst/>
              <a:gdLst/>
              <a:ahLst/>
              <a:cxnLst/>
              <a:rect l="l" t="t" r="r" b="b"/>
              <a:pathLst>
                <a:path w="2353920" h="406400">
                  <a:moveTo>
                    <a:pt x="2150720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2150720" y="406400"/>
                  </a:lnTo>
                  <a:lnTo>
                    <a:pt x="2353920" y="203200"/>
                  </a:lnTo>
                  <a:lnTo>
                    <a:pt x="2150720" y="0"/>
                  </a:lnTo>
                  <a:close/>
                </a:path>
              </a:pathLst>
            </a:custGeom>
            <a:solidFill>
              <a:srgbClr val="2563EB"/>
            </a:solidFill>
            <a:ln w="28575" cap="sq">
              <a:solidFill>
                <a:srgbClr val="1F2937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52400" y="-47625"/>
              <a:ext cx="2049120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68361" y="4059111"/>
            <a:ext cx="7300588" cy="5199189"/>
            <a:chOff x="0" y="0"/>
            <a:chExt cx="2157660" cy="15366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57660" cy="1536600"/>
            </a:xfrm>
            <a:custGeom>
              <a:avLst/>
              <a:gdLst/>
              <a:ahLst/>
              <a:cxnLst/>
              <a:rect l="l" t="t" r="r" b="b"/>
              <a:pathLst>
                <a:path w="2157660" h="1536600">
                  <a:moveTo>
                    <a:pt x="0" y="0"/>
                  </a:moveTo>
                  <a:lnTo>
                    <a:pt x="2157660" y="0"/>
                  </a:lnTo>
                  <a:lnTo>
                    <a:pt x="2157660" y="1536600"/>
                  </a:lnTo>
                  <a:lnTo>
                    <a:pt x="0" y="1536600"/>
                  </a:lnTo>
                  <a:close/>
                </a:path>
              </a:pathLst>
            </a:custGeom>
            <a:blipFill>
              <a:blip r:embed="rId3"/>
              <a:stretch>
                <a:fillRect l="-1767" r="-1767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1028700" y="762179"/>
            <a:ext cx="12787669" cy="1177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sz="6500" b="1">
                <a:solidFill>
                  <a:srgbClr val="1F2937"/>
                </a:solidFill>
                <a:latin typeface="Poppins Bold"/>
                <a:ea typeface="Poppins Bold"/>
                <a:cs typeface="Poppins Bold"/>
                <a:sym typeface="Poppins Bold"/>
              </a:rPr>
              <a:t>Store Analysis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75724" y="2279841"/>
            <a:ext cx="17699706" cy="1417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1">
                <a:solidFill>
                  <a:srgbClr val="1F29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The Operations Manager wants to identify which stores consistently deliver orders the fastest. Write a query to display store key, country, state, total orders, and average delivery days, sorted by fastest delivery time.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422534" y="343079"/>
            <a:ext cx="3097995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F7F9F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Global retail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3488443"/>
            <a:chOff x="0" y="0"/>
            <a:chExt cx="4816593" cy="9187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918767"/>
            </a:xfrm>
            <a:custGeom>
              <a:avLst/>
              <a:gdLst/>
              <a:ahLst/>
              <a:cxnLst/>
              <a:rect l="l" t="t" r="r" b="b"/>
              <a:pathLst>
                <a:path w="4816592" h="918767">
                  <a:moveTo>
                    <a:pt x="0" y="0"/>
                  </a:moveTo>
                  <a:lnTo>
                    <a:pt x="4816592" y="0"/>
                  </a:lnTo>
                  <a:lnTo>
                    <a:pt x="4816592" y="918767"/>
                  </a:lnTo>
                  <a:lnTo>
                    <a:pt x="0" y="918767"/>
                  </a:lnTo>
                  <a:close/>
                </a:path>
              </a:pathLst>
            </a:custGeom>
            <a:solidFill>
              <a:srgbClr val="F7F9F7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9568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0" y="578029"/>
            <a:ext cx="18288000" cy="0"/>
          </a:xfrm>
          <a:prstGeom prst="line">
            <a:avLst/>
          </a:prstGeom>
          <a:ln w="19050" cap="flat">
            <a:solidFill>
              <a:srgbClr val="1F29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 flipV="1">
            <a:off x="-1034176" y="2136966"/>
            <a:ext cx="19322176" cy="0"/>
          </a:xfrm>
          <a:prstGeom prst="line">
            <a:avLst/>
          </a:prstGeom>
          <a:ln w="19050" cap="flat">
            <a:solidFill>
              <a:srgbClr val="1F2937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10146814" y="5031493"/>
            <a:ext cx="7767177" cy="3069518"/>
            <a:chOff x="0" y="0"/>
            <a:chExt cx="6473360" cy="255821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473360" cy="2558213"/>
            </a:xfrm>
            <a:custGeom>
              <a:avLst/>
              <a:gdLst/>
              <a:ahLst/>
              <a:cxnLst/>
              <a:rect l="l" t="t" r="r" b="b"/>
              <a:pathLst>
                <a:path w="6473360" h="2558213">
                  <a:moveTo>
                    <a:pt x="0" y="0"/>
                  </a:moveTo>
                  <a:lnTo>
                    <a:pt x="6473360" y="0"/>
                  </a:lnTo>
                  <a:lnTo>
                    <a:pt x="6473360" y="2558213"/>
                  </a:lnTo>
                  <a:lnTo>
                    <a:pt x="0" y="2558213"/>
                  </a:lnTo>
                  <a:close/>
                </a:path>
              </a:pathLst>
            </a:custGeom>
            <a:blipFill>
              <a:blip r:embed="rId2"/>
              <a:stretch>
                <a:fillRect l="-1594" r="-1594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7024223" y="220728"/>
            <a:ext cx="4239554" cy="731951"/>
            <a:chOff x="0" y="0"/>
            <a:chExt cx="2353920" cy="406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353920" cy="406400"/>
            </a:xfrm>
            <a:custGeom>
              <a:avLst/>
              <a:gdLst/>
              <a:ahLst/>
              <a:cxnLst/>
              <a:rect l="l" t="t" r="r" b="b"/>
              <a:pathLst>
                <a:path w="2353920" h="406400">
                  <a:moveTo>
                    <a:pt x="2150720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2150720" y="406400"/>
                  </a:lnTo>
                  <a:lnTo>
                    <a:pt x="2353920" y="203200"/>
                  </a:lnTo>
                  <a:lnTo>
                    <a:pt x="2150720" y="0"/>
                  </a:lnTo>
                  <a:close/>
                </a:path>
              </a:pathLst>
            </a:custGeom>
            <a:solidFill>
              <a:srgbClr val="2563EB"/>
            </a:solidFill>
            <a:ln w="28575" cap="sq">
              <a:solidFill>
                <a:srgbClr val="1F2937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52400" y="-47625"/>
              <a:ext cx="2049120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15339" y="3888493"/>
            <a:ext cx="7975639" cy="5679933"/>
            <a:chOff x="0" y="0"/>
            <a:chExt cx="2157660" cy="15366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57660" cy="1536600"/>
            </a:xfrm>
            <a:custGeom>
              <a:avLst/>
              <a:gdLst/>
              <a:ahLst/>
              <a:cxnLst/>
              <a:rect l="l" t="t" r="r" b="b"/>
              <a:pathLst>
                <a:path w="2157660" h="1536600">
                  <a:moveTo>
                    <a:pt x="0" y="0"/>
                  </a:moveTo>
                  <a:lnTo>
                    <a:pt x="2157660" y="0"/>
                  </a:lnTo>
                  <a:lnTo>
                    <a:pt x="2157660" y="1536600"/>
                  </a:lnTo>
                  <a:lnTo>
                    <a:pt x="0" y="1536600"/>
                  </a:lnTo>
                  <a:close/>
                </a:path>
              </a:pathLst>
            </a:custGeom>
            <a:blipFill>
              <a:blip r:embed="rId3"/>
              <a:stretch>
                <a:fillRect t="-351" b="-351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1028700" y="762179"/>
            <a:ext cx="12787669" cy="1177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sz="6500" b="1">
                <a:solidFill>
                  <a:srgbClr val="1F2937"/>
                </a:solidFill>
                <a:latin typeface="Poppins Bold"/>
                <a:ea typeface="Poppins Bold"/>
                <a:cs typeface="Poppins Bold"/>
                <a:sym typeface="Poppins Bold"/>
              </a:rPr>
              <a:t>Store Analysis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41125" y="2279841"/>
            <a:ext cx="17699706" cy="941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1">
                <a:solidFill>
                  <a:srgbClr val="1F29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Management wants to investigate stores with poor delivery performance. Write a query to display the top 5 stores with the highest average delivery days.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422534" y="343079"/>
            <a:ext cx="3097995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F7F9F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Global retail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3488443"/>
            <a:chOff x="0" y="0"/>
            <a:chExt cx="4816593" cy="9187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918767"/>
            </a:xfrm>
            <a:custGeom>
              <a:avLst/>
              <a:gdLst/>
              <a:ahLst/>
              <a:cxnLst/>
              <a:rect l="l" t="t" r="r" b="b"/>
              <a:pathLst>
                <a:path w="4816592" h="918767">
                  <a:moveTo>
                    <a:pt x="0" y="0"/>
                  </a:moveTo>
                  <a:lnTo>
                    <a:pt x="4816592" y="0"/>
                  </a:lnTo>
                  <a:lnTo>
                    <a:pt x="4816592" y="918767"/>
                  </a:lnTo>
                  <a:lnTo>
                    <a:pt x="0" y="918767"/>
                  </a:lnTo>
                  <a:close/>
                </a:path>
              </a:pathLst>
            </a:custGeom>
            <a:solidFill>
              <a:srgbClr val="F7F9F7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9568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0" y="578029"/>
            <a:ext cx="18288000" cy="0"/>
          </a:xfrm>
          <a:prstGeom prst="line">
            <a:avLst/>
          </a:prstGeom>
          <a:ln w="19050" cap="flat">
            <a:solidFill>
              <a:srgbClr val="1F29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 flipV="1">
            <a:off x="-1034176" y="2136966"/>
            <a:ext cx="19322176" cy="0"/>
          </a:xfrm>
          <a:prstGeom prst="line">
            <a:avLst/>
          </a:prstGeom>
          <a:ln w="19050" cap="flat">
            <a:solidFill>
              <a:srgbClr val="1F2937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11263777" y="3888493"/>
            <a:ext cx="4443548" cy="5679933"/>
            <a:chOff x="0" y="0"/>
            <a:chExt cx="6473360" cy="827452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473360" cy="8274525"/>
            </a:xfrm>
            <a:custGeom>
              <a:avLst/>
              <a:gdLst/>
              <a:ahLst/>
              <a:cxnLst/>
              <a:rect l="l" t="t" r="r" b="b"/>
              <a:pathLst>
                <a:path w="6473360" h="8274525">
                  <a:moveTo>
                    <a:pt x="0" y="0"/>
                  </a:moveTo>
                  <a:lnTo>
                    <a:pt x="6473360" y="0"/>
                  </a:lnTo>
                  <a:lnTo>
                    <a:pt x="6473360" y="8274525"/>
                  </a:lnTo>
                  <a:lnTo>
                    <a:pt x="0" y="8274525"/>
                  </a:lnTo>
                  <a:close/>
                </a:path>
              </a:pathLst>
            </a:custGeom>
            <a:blipFill>
              <a:blip r:embed="rId2"/>
              <a:stretch>
                <a:fillRect l="-401" r="-401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7024223" y="220728"/>
            <a:ext cx="4239554" cy="731951"/>
            <a:chOff x="0" y="0"/>
            <a:chExt cx="2353920" cy="406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353920" cy="406400"/>
            </a:xfrm>
            <a:custGeom>
              <a:avLst/>
              <a:gdLst/>
              <a:ahLst/>
              <a:cxnLst/>
              <a:rect l="l" t="t" r="r" b="b"/>
              <a:pathLst>
                <a:path w="2353920" h="406400">
                  <a:moveTo>
                    <a:pt x="2150720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2150720" y="406400"/>
                  </a:lnTo>
                  <a:lnTo>
                    <a:pt x="2353920" y="203200"/>
                  </a:lnTo>
                  <a:lnTo>
                    <a:pt x="2150720" y="0"/>
                  </a:lnTo>
                  <a:close/>
                </a:path>
              </a:pathLst>
            </a:custGeom>
            <a:solidFill>
              <a:srgbClr val="2563EB"/>
            </a:solidFill>
            <a:ln w="28575" cap="sq">
              <a:solidFill>
                <a:srgbClr val="1F2937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52400" y="-47625"/>
              <a:ext cx="2049120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80928" y="3678943"/>
            <a:ext cx="10044310" cy="5968611"/>
            <a:chOff x="0" y="0"/>
            <a:chExt cx="2157660" cy="128214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57660" cy="1282142"/>
            </a:xfrm>
            <a:custGeom>
              <a:avLst/>
              <a:gdLst/>
              <a:ahLst/>
              <a:cxnLst/>
              <a:rect l="l" t="t" r="r" b="b"/>
              <a:pathLst>
                <a:path w="2157660" h="1282142">
                  <a:moveTo>
                    <a:pt x="0" y="0"/>
                  </a:moveTo>
                  <a:lnTo>
                    <a:pt x="2157660" y="0"/>
                  </a:lnTo>
                  <a:lnTo>
                    <a:pt x="2157660" y="1282142"/>
                  </a:lnTo>
                  <a:lnTo>
                    <a:pt x="0" y="1282142"/>
                  </a:lnTo>
                  <a:close/>
                </a:path>
              </a:pathLst>
            </a:custGeom>
            <a:blipFill>
              <a:blip r:embed="rId3"/>
              <a:stretch>
                <a:fillRect t="-1500" b="-1500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1028700" y="762179"/>
            <a:ext cx="12787669" cy="1177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sz="6500" b="1">
                <a:solidFill>
                  <a:srgbClr val="1F2937"/>
                </a:solidFill>
                <a:latin typeface="Poppins Bold"/>
                <a:ea typeface="Poppins Bold"/>
                <a:cs typeface="Poppins Bold"/>
                <a:sym typeface="Poppins Bold"/>
              </a:rPr>
              <a:t>Sales Analysis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41125" y="2279841"/>
            <a:ext cx="17699706" cy="941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1">
                <a:solidFill>
                  <a:srgbClr val="1F29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The CEO wants to track cumulative revenue throughout the year. Write a query to display year, month, monthly revenue, and running (cumulative) revenue.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422534" y="343079"/>
            <a:ext cx="3097995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F7F9F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Global retail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3488443"/>
            <a:chOff x="0" y="0"/>
            <a:chExt cx="4816593" cy="9187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918767"/>
            </a:xfrm>
            <a:custGeom>
              <a:avLst/>
              <a:gdLst/>
              <a:ahLst/>
              <a:cxnLst/>
              <a:rect l="l" t="t" r="r" b="b"/>
              <a:pathLst>
                <a:path w="4816592" h="918767">
                  <a:moveTo>
                    <a:pt x="0" y="0"/>
                  </a:moveTo>
                  <a:lnTo>
                    <a:pt x="4816592" y="0"/>
                  </a:lnTo>
                  <a:lnTo>
                    <a:pt x="4816592" y="918767"/>
                  </a:lnTo>
                  <a:lnTo>
                    <a:pt x="0" y="918767"/>
                  </a:lnTo>
                  <a:close/>
                </a:path>
              </a:pathLst>
            </a:custGeom>
            <a:solidFill>
              <a:srgbClr val="F7F9F7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9568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0" y="578029"/>
            <a:ext cx="18288000" cy="0"/>
          </a:xfrm>
          <a:prstGeom prst="line">
            <a:avLst/>
          </a:prstGeom>
          <a:ln w="19050" cap="flat">
            <a:solidFill>
              <a:srgbClr val="1F29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 flipV="1">
            <a:off x="-1034176" y="2136966"/>
            <a:ext cx="19322176" cy="0"/>
          </a:xfrm>
          <a:prstGeom prst="line">
            <a:avLst/>
          </a:prstGeom>
          <a:ln w="19050" cap="flat">
            <a:solidFill>
              <a:srgbClr val="1F2937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10960592" y="4180350"/>
            <a:ext cx="6298708" cy="6106650"/>
            <a:chOff x="0" y="0"/>
            <a:chExt cx="8352398" cy="809771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352398" cy="8097720"/>
            </a:xfrm>
            <a:custGeom>
              <a:avLst/>
              <a:gdLst/>
              <a:ahLst/>
              <a:cxnLst/>
              <a:rect l="l" t="t" r="r" b="b"/>
              <a:pathLst>
                <a:path w="8352398" h="8097720">
                  <a:moveTo>
                    <a:pt x="0" y="0"/>
                  </a:moveTo>
                  <a:lnTo>
                    <a:pt x="8352398" y="0"/>
                  </a:lnTo>
                  <a:lnTo>
                    <a:pt x="8352398" y="8097720"/>
                  </a:lnTo>
                  <a:lnTo>
                    <a:pt x="0" y="8097720"/>
                  </a:lnTo>
                  <a:close/>
                </a:path>
              </a:pathLst>
            </a:custGeom>
            <a:blipFill>
              <a:blip r:embed="rId2"/>
              <a:stretch>
                <a:fillRect l="-2462" r="-2462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7024223" y="220728"/>
            <a:ext cx="4239554" cy="731951"/>
            <a:chOff x="0" y="0"/>
            <a:chExt cx="2353920" cy="406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353920" cy="406400"/>
            </a:xfrm>
            <a:custGeom>
              <a:avLst/>
              <a:gdLst/>
              <a:ahLst/>
              <a:cxnLst/>
              <a:rect l="l" t="t" r="r" b="b"/>
              <a:pathLst>
                <a:path w="2353920" h="406400">
                  <a:moveTo>
                    <a:pt x="2150720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2150720" y="406400"/>
                  </a:lnTo>
                  <a:lnTo>
                    <a:pt x="2353920" y="203200"/>
                  </a:lnTo>
                  <a:lnTo>
                    <a:pt x="2150720" y="0"/>
                  </a:lnTo>
                  <a:close/>
                </a:path>
              </a:pathLst>
            </a:custGeom>
            <a:solidFill>
              <a:srgbClr val="2563EB"/>
            </a:solidFill>
            <a:ln w="28575" cap="sq">
              <a:solidFill>
                <a:srgbClr val="1F2937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52400" y="-47625"/>
              <a:ext cx="2049120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82335" y="3678943"/>
            <a:ext cx="8463072" cy="6449533"/>
            <a:chOff x="0" y="0"/>
            <a:chExt cx="2157660" cy="164430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57660" cy="1644308"/>
            </a:xfrm>
            <a:custGeom>
              <a:avLst/>
              <a:gdLst/>
              <a:ahLst/>
              <a:cxnLst/>
              <a:rect l="l" t="t" r="r" b="b"/>
              <a:pathLst>
                <a:path w="2157660" h="1644308">
                  <a:moveTo>
                    <a:pt x="0" y="0"/>
                  </a:moveTo>
                  <a:lnTo>
                    <a:pt x="2157660" y="0"/>
                  </a:lnTo>
                  <a:lnTo>
                    <a:pt x="2157660" y="1644308"/>
                  </a:lnTo>
                  <a:lnTo>
                    <a:pt x="0" y="1644308"/>
                  </a:lnTo>
                  <a:close/>
                </a:path>
              </a:pathLst>
            </a:custGeom>
            <a:blipFill>
              <a:blip r:embed="rId3"/>
              <a:stretch>
                <a:fillRect l="-246" r="-246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1028700" y="762179"/>
            <a:ext cx="12787669" cy="1177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sz="6500" b="1">
                <a:solidFill>
                  <a:srgbClr val="1F2937"/>
                </a:solidFill>
                <a:latin typeface="Poppins Bold"/>
                <a:ea typeface="Poppins Bold"/>
                <a:cs typeface="Poppins Bold"/>
                <a:sym typeface="Poppins Bold"/>
              </a:rPr>
              <a:t>Sales Analysis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41125" y="2279841"/>
            <a:ext cx="17699706" cy="941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1">
                <a:solidFill>
                  <a:srgbClr val="1F29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Management wants to compare each month's revenue with the previous month. Write a query to display year, month, current month revenue, previous month revenue, and month-over-month growth.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422534" y="343079"/>
            <a:ext cx="3097995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F7F9F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Global retail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3488443"/>
            <a:chOff x="0" y="0"/>
            <a:chExt cx="4816593" cy="9187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918767"/>
            </a:xfrm>
            <a:custGeom>
              <a:avLst/>
              <a:gdLst/>
              <a:ahLst/>
              <a:cxnLst/>
              <a:rect l="l" t="t" r="r" b="b"/>
              <a:pathLst>
                <a:path w="4816592" h="918767">
                  <a:moveTo>
                    <a:pt x="0" y="0"/>
                  </a:moveTo>
                  <a:lnTo>
                    <a:pt x="4816592" y="0"/>
                  </a:lnTo>
                  <a:lnTo>
                    <a:pt x="4816592" y="918767"/>
                  </a:lnTo>
                  <a:lnTo>
                    <a:pt x="0" y="918767"/>
                  </a:lnTo>
                  <a:close/>
                </a:path>
              </a:pathLst>
            </a:custGeom>
            <a:solidFill>
              <a:srgbClr val="F7F9F7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9568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0" y="578029"/>
            <a:ext cx="18288000" cy="0"/>
          </a:xfrm>
          <a:prstGeom prst="line">
            <a:avLst/>
          </a:prstGeom>
          <a:ln w="19050" cap="flat">
            <a:solidFill>
              <a:srgbClr val="1F29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 flipV="1">
            <a:off x="-1056285" y="1744221"/>
            <a:ext cx="19344285" cy="0"/>
          </a:xfrm>
          <a:prstGeom prst="line">
            <a:avLst/>
          </a:prstGeom>
          <a:ln w="19050" cap="flat">
            <a:solidFill>
              <a:srgbClr val="1F2937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8279155" y="4747158"/>
            <a:ext cx="9856445" cy="3389102"/>
            <a:chOff x="0" y="0"/>
            <a:chExt cx="24812316" cy="809771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812316" cy="8097720"/>
            </a:xfrm>
            <a:custGeom>
              <a:avLst/>
              <a:gdLst/>
              <a:ahLst/>
              <a:cxnLst/>
              <a:rect l="l" t="t" r="r" b="b"/>
              <a:pathLst>
                <a:path w="24812316" h="8097720">
                  <a:moveTo>
                    <a:pt x="0" y="0"/>
                  </a:moveTo>
                  <a:lnTo>
                    <a:pt x="24812316" y="0"/>
                  </a:lnTo>
                  <a:lnTo>
                    <a:pt x="24812316" y="8097720"/>
                  </a:lnTo>
                  <a:lnTo>
                    <a:pt x="0" y="8097720"/>
                  </a:lnTo>
                  <a:close/>
                </a:path>
              </a:pathLst>
            </a:custGeom>
            <a:blipFill>
              <a:blip r:embed="rId2"/>
              <a:stretch>
                <a:fillRect t="-350" b="-350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7024223" y="220728"/>
            <a:ext cx="4239554" cy="731951"/>
            <a:chOff x="0" y="0"/>
            <a:chExt cx="2353920" cy="406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353920" cy="406400"/>
            </a:xfrm>
            <a:custGeom>
              <a:avLst/>
              <a:gdLst/>
              <a:ahLst/>
              <a:cxnLst/>
              <a:rect l="l" t="t" r="r" b="b"/>
              <a:pathLst>
                <a:path w="2353920" h="406400">
                  <a:moveTo>
                    <a:pt x="2150720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2150720" y="406400"/>
                  </a:lnTo>
                  <a:lnTo>
                    <a:pt x="2353920" y="203200"/>
                  </a:lnTo>
                  <a:lnTo>
                    <a:pt x="2150720" y="0"/>
                  </a:lnTo>
                  <a:close/>
                </a:path>
              </a:pathLst>
            </a:custGeom>
            <a:solidFill>
              <a:srgbClr val="2563EB"/>
            </a:solidFill>
            <a:ln w="28575" cap="sq">
              <a:solidFill>
                <a:srgbClr val="1F2937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52400" y="-47625"/>
              <a:ext cx="2049120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836920" y="2941489"/>
            <a:ext cx="5822027" cy="7020881"/>
            <a:chOff x="0" y="0"/>
            <a:chExt cx="2157660" cy="260195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57660" cy="2601959"/>
            </a:xfrm>
            <a:custGeom>
              <a:avLst/>
              <a:gdLst/>
              <a:ahLst/>
              <a:cxnLst/>
              <a:rect l="l" t="t" r="r" b="b"/>
              <a:pathLst>
                <a:path w="2157660" h="2601959">
                  <a:moveTo>
                    <a:pt x="0" y="0"/>
                  </a:moveTo>
                  <a:lnTo>
                    <a:pt x="2157660" y="0"/>
                  </a:lnTo>
                  <a:lnTo>
                    <a:pt x="2157660" y="2601959"/>
                  </a:lnTo>
                  <a:lnTo>
                    <a:pt x="0" y="2601959"/>
                  </a:lnTo>
                  <a:close/>
                </a:path>
              </a:pathLst>
            </a:custGeom>
            <a:blipFill>
              <a:blip r:embed="rId3"/>
              <a:stretch>
                <a:fillRect l="-1035" r="-1035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811730" y="525032"/>
            <a:ext cx="12787669" cy="1095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1">
                <a:solidFill>
                  <a:srgbClr val="1F2937"/>
                </a:solidFill>
                <a:latin typeface="Poppins Bold"/>
                <a:ea typeface="Poppins Bold"/>
                <a:cs typeface="Poppins Bold"/>
                <a:sym typeface="Poppins Bold"/>
              </a:rPr>
              <a:t>Profit Analysis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11730" y="1809919"/>
            <a:ext cx="17699706" cy="941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1">
                <a:solidFill>
                  <a:srgbClr val="1F29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Write a query to calculate revenue, cost, profit, profit percentage, and revenue in local currency for each country.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422534" y="343079"/>
            <a:ext cx="3097995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F7F9F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Global retail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3488443"/>
            <a:chOff x="0" y="0"/>
            <a:chExt cx="4816593" cy="9187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918767"/>
            </a:xfrm>
            <a:custGeom>
              <a:avLst/>
              <a:gdLst/>
              <a:ahLst/>
              <a:cxnLst/>
              <a:rect l="l" t="t" r="r" b="b"/>
              <a:pathLst>
                <a:path w="4816592" h="918767">
                  <a:moveTo>
                    <a:pt x="0" y="0"/>
                  </a:moveTo>
                  <a:lnTo>
                    <a:pt x="4816592" y="0"/>
                  </a:lnTo>
                  <a:lnTo>
                    <a:pt x="4816592" y="918767"/>
                  </a:lnTo>
                  <a:lnTo>
                    <a:pt x="0" y="918767"/>
                  </a:lnTo>
                  <a:close/>
                </a:path>
              </a:pathLst>
            </a:custGeom>
            <a:solidFill>
              <a:srgbClr val="F7F9F7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9568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-24528" y="491274"/>
            <a:ext cx="18159926" cy="9525"/>
          </a:xfrm>
          <a:prstGeom prst="line">
            <a:avLst/>
          </a:prstGeom>
          <a:ln w="19050" cap="flat">
            <a:solidFill>
              <a:srgbClr val="1F29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-152602" y="2136981"/>
            <a:ext cx="18288000" cy="0"/>
          </a:xfrm>
          <a:prstGeom prst="line">
            <a:avLst/>
          </a:prstGeom>
          <a:ln w="19050" cap="flat">
            <a:solidFill>
              <a:srgbClr val="1F2937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10309104" y="3779840"/>
            <a:ext cx="6444479" cy="5478460"/>
            <a:chOff x="0" y="0"/>
            <a:chExt cx="1171774" cy="99612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71774" cy="996127"/>
            </a:xfrm>
            <a:custGeom>
              <a:avLst/>
              <a:gdLst/>
              <a:ahLst/>
              <a:cxnLst/>
              <a:rect l="l" t="t" r="r" b="b"/>
              <a:pathLst>
                <a:path w="1171774" h="996127">
                  <a:moveTo>
                    <a:pt x="0" y="0"/>
                  </a:moveTo>
                  <a:lnTo>
                    <a:pt x="1171774" y="0"/>
                  </a:lnTo>
                  <a:lnTo>
                    <a:pt x="1171774" y="996127"/>
                  </a:lnTo>
                  <a:lnTo>
                    <a:pt x="0" y="996127"/>
                  </a:lnTo>
                  <a:close/>
                </a:path>
              </a:pathLst>
            </a:custGeom>
            <a:blipFill>
              <a:blip r:embed="rId2"/>
              <a:stretch>
                <a:fillRect t="-414" b="-414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6871621" y="107099"/>
            <a:ext cx="4239554" cy="731951"/>
            <a:chOff x="0" y="0"/>
            <a:chExt cx="2353920" cy="406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353920" cy="406400"/>
            </a:xfrm>
            <a:custGeom>
              <a:avLst/>
              <a:gdLst/>
              <a:ahLst/>
              <a:cxnLst/>
              <a:rect l="l" t="t" r="r" b="b"/>
              <a:pathLst>
                <a:path w="2353920" h="406400">
                  <a:moveTo>
                    <a:pt x="2150720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2150720" y="406400"/>
                  </a:lnTo>
                  <a:lnTo>
                    <a:pt x="2353920" y="203200"/>
                  </a:lnTo>
                  <a:lnTo>
                    <a:pt x="2150720" y="0"/>
                  </a:lnTo>
                  <a:close/>
                </a:path>
              </a:pathLst>
            </a:custGeom>
            <a:solidFill>
              <a:srgbClr val="2563EB"/>
            </a:solidFill>
            <a:ln w="28575" cap="sq">
              <a:solidFill>
                <a:srgbClr val="1F2937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52400" y="-47625"/>
              <a:ext cx="2049120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01201" y="3650368"/>
            <a:ext cx="8017201" cy="5920434"/>
            <a:chOff x="0" y="0"/>
            <a:chExt cx="1171774" cy="86531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71774" cy="865316"/>
            </a:xfrm>
            <a:custGeom>
              <a:avLst/>
              <a:gdLst/>
              <a:ahLst/>
              <a:cxnLst/>
              <a:rect l="l" t="t" r="r" b="b"/>
              <a:pathLst>
                <a:path w="1171774" h="865316">
                  <a:moveTo>
                    <a:pt x="0" y="0"/>
                  </a:moveTo>
                  <a:lnTo>
                    <a:pt x="1171774" y="0"/>
                  </a:lnTo>
                  <a:lnTo>
                    <a:pt x="1171774" y="865316"/>
                  </a:lnTo>
                  <a:lnTo>
                    <a:pt x="0" y="865316"/>
                  </a:lnTo>
                  <a:close/>
                </a:path>
              </a:pathLst>
            </a:custGeom>
            <a:blipFill>
              <a:blip r:embed="rId3"/>
              <a:stretch>
                <a:fillRect t="-471" b="-471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477786" y="619976"/>
            <a:ext cx="12787669" cy="1345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60"/>
              </a:lnSpc>
            </a:pPr>
            <a:r>
              <a:rPr lang="en-US" sz="7400" b="1">
                <a:solidFill>
                  <a:srgbClr val="1F2937"/>
                </a:solidFill>
                <a:latin typeface="Poppins Bold"/>
                <a:ea typeface="Poppins Bold"/>
                <a:cs typeface="Poppins Bold"/>
                <a:sym typeface="Poppins Bold"/>
              </a:rPr>
              <a:t>Executive Analysis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60270" y="2251281"/>
            <a:ext cx="17062255" cy="941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1">
                <a:solidFill>
                  <a:srgbClr val="1F29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Marketing wants to know which brands dominate each country. Write a query to display the top 5 brands (by revenue) within each country, along with their rank.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442401" y="256324"/>
            <a:ext cx="3097995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F7F9F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Global retail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5516787"/>
            <a:chOff x="0" y="0"/>
            <a:chExt cx="4816593" cy="145298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1452981"/>
            </a:xfrm>
            <a:custGeom>
              <a:avLst/>
              <a:gdLst/>
              <a:ahLst/>
              <a:cxnLst/>
              <a:rect l="l" t="t" r="r" b="b"/>
              <a:pathLst>
                <a:path w="4816592" h="1452981">
                  <a:moveTo>
                    <a:pt x="0" y="0"/>
                  </a:moveTo>
                  <a:lnTo>
                    <a:pt x="4816592" y="0"/>
                  </a:lnTo>
                  <a:lnTo>
                    <a:pt x="4816592" y="1452981"/>
                  </a:lnTo>
                  <a:lnTo>
                    <a:pt x="0" y="1452981"/>
                  </a:lnTo>
                  <a:close/>
                </a:path>
              </a:pathLst>
            </a:custGeom>
            <a:solidFill>
              <a:srgbClr val="F7F9F7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14910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0" y="1014412"/>
            <a:ext cx="18288000" cy="0"/>
          </a:xfrm>
          <a:prstGeom prst="line">
            <a:avLst/>
          </a:prstGeom>
          <a:ln w="19050" cap="flat">
            <a:solidFill>
              <a:srgbClr val="1F29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0" y="9248775"/>
            <a:ext cx="18288000" cy="0"/>
          </a:xfrm>
          <a:prstGeom prst="line">
            <a:avLst/>
          </a:prstGeom>
          <a:ln w="19050" cap="flat">
            <a:solidFill>
              <a:srgbClr val="1F29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9144000" y="5516787"/>
            <a:ext cx="0" cy="3731988"/>
          </a:xfrm>
          <a:prstGeom prst="line">
            <a:avLst/>
          </a:prstGeom>
          <a:ln w="19050" cap="flat">
            <a:solidFill>
              <a:srgbClr val="1F29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>
            <a:off x="4712508" y="5502967"/>
            <a:ext cx="0" cy="3731988"/>
          </a:xfrm>
          <a:prstGeom prst="line">
            <a:avLst/>
          </a:prstGeom>
          <a:ln w="19050" cap="flat">
            <a:solidFill>
              <a:srgbClr val="1F29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13581155" y="5502967"/>
            <a:ext cx="0" cy="3731988"/>
          </a:xfrm>
          <a:prstGeom prst="line">
            <a:avLst/>
          </a:prstGeom>
          <a:ln w="19050" cap="flat">
            <a:solidFill>
              <a:srgbClr val="1F29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>
            <a:off x="0" y="5516787"/>
            <a:ext cx="18288000" cy="0"/>
          </a:xfrm>
          <a:prstGeom prst="line">
            <a:avLst/>
          </a:prstGeom>
          <a:ln w="19050" cap="flat">
            <a:solidFill>
              <a:srgbClr val="1F29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/>
          <p:cNvSpPr txBox="1"/>
          <p:nvPr/>
        </p:nvSpPr>
        <p:spPr>
          <a:xfrm>
            <a:off x="1028700" y="1514008"/>
            <a:ext cx="8115300" cy="3588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0"/>
              </a:lnSpc>
            </a:pPr>
            <a:r>
              <a:rPr lang="en-US" sz="9000" b="1">
                <a:solidFill>
                  <a:srgbClr val="1F2937"/>
                </a:solidFill>
                <a:latin typeface="Poppins Bold"/>
                <a:ea typeface="Poppins Bold"/>
                <a:cs typeface="Poppins Bold"/>
                <a:sym typeface="Poppins Bold"/>
              </a:rPr>
              <a:t>Sales Performance Overview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40092" y="6422386"/>
            <a:ext cx="4281941" cy="675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47"/>
              </a:lnSpc>
            </a:pPr>
            <a:r>
              <a:rPr lang="en-US" sz="4700" b="1">
                <a:solidFill>
                  <a:srgbClr val="1F2937"/>
                </a:solidFill>
                <a:latin typeface="Poppins Bold"/>
                <a:ea typeface="Poppins Bold"/>
                <a:cs typeface="Poppins Bold"/>
                <a:sym typeface="Poppins Bold"/>
              </a:rPr>
              <a:t>55755479.59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741814" y="6431911"/>
            <a:ext cx="2001234" cy="711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50"/>
              </a:lnSpc>
            </a:pPr>
            <a:r>
              <a:rPr lang="en-US" sz="5000" b="1">
                <a:solidFill>
                  <a:srgbClr val="1F2937"/>
                </a:solidFill>
                <a:latin typeface="Poppins Bold"/>
                <a:ea typeface="Poppins Bold"/>
                <a:cs typeface="Poppins Bold"/>
                <a:sym typeface="Poppins Bold"/>
              </a:rPr>
              <a:t>26326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715500" y="6431911"/>
            <a:ext cx="3331052" cy="711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50"/>
              </a:lnSpc>
            </a:pPr>
            <a:r>
              <a:rPr lang="en-US" sz="5000" b="1">
                <a:solidFill>
                  <a:srgbClr val="1F2937"/>
                </a:solidFill>
                <a:latin typeface="Poppins Bold"/>
                <a:ea typeface="Poppins Bold"/>
                <a:cs typeface="Poppins Bold"/>
                <a:sym typeface="Poppins Bold"/>
              </a:rPr>
              <a:t>2117.8864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114555" y="6420812"/>
            <a:ext cx="3483655" cy="641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45"/>
              </a:lnSpc>
            </a:pPr>
            <a:r>
              <a:rPr lang="en-US" sz="4500" b="1">
                <a:solidFill>
                  <a:srgbClr val="1F2937"/>
                </a:solidFill>
                <a:latin typeface="Poppins Bold"/>
                <a:ea typeface="Poppins Bold"/>
                <a:cs typeface="Poppins Bold"/>
                <a:sym typeface="Poppins Bold"/>
              </a:rPr>
              <a:t>31798221.30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20987" y="7486011"/>
            <a:ext cx="3113990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1F2937"/>
                </a:solidFill>
                <a:latin typeface="Lexend Deca"/>
                <a:ea typeface="Lexend Deca"/>
                <a:cs typeface="Lexend Deca"/>
                <a:sym typeface="Lexend Deca"/>
              </a:rPr>
              <a:t>Total Revenue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741814" y="7486011"/>
            <a:ext cx="3113990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1F2937"/>
                </a:solidFill>
                <a:latin typeface="Lexend Deca"/>
                <a:ea typeface="Lexend Deca"/>
                <a:cs typeface="Lexend Deca"/>
                <a:sym typeface="Lexend Deca"/>
              </a:rPr>
              <a:t>Total Orders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48199" y="7503412"/>
            <a:ext cx="3865655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1F2937"/>
                </a:solidFill>
                <a:latin typeface="Lexend Deca"/>
                <a:ea typeface="Lexend Deca"/>
                <a:cs typeface="Lexend Deca"/>
                <a:sym typeface="Lexend Deca"/>
              </a:rPr>
              <a:t>Average Order Value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762457" y="7503412"/>
            <a:ext cx="2835752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1F2937"/>
                </a:solidFill>
                <a:latin typeface="Lexend Deca"/>
                <a:ea typeface="Lexend Deca"/>
                <a:cs typeface="Lexend Deca"/>
                <a:sym typeface="Lexend Deca"/>
              </a:rPr>
              <a:t>Total Profit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7024223" y="662724"/>
            <a:ext cx="4239554" cy="731951"/>
            <a:chOff x="0" y="0"/>
            <a:chExt cx="2353920" cy="4064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353920" cy="406400"/>
            </a:xfrm>
            <a:custGeom>
              <a:avLst/>
              <a:gdLst/>
              <a:ahLst/>
              <a:cxnLst/>
              <a:rect l="l" t="t" r="r" b="b"/>
              <a:pathLst>
                <a:path w="2353920" h="406400">
                  <a:moveTo>
                    <a:pt x="2150720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2150720" y="406400"/>
                  </a:lnTo>
                  <a:lnTo>
                    <a:pt x="2353920" y="203200"/>
                  </a:lnTo>
                  <a:lnTo>
                    <a:pt x="2150720" y="0"/>
                  </a:lnTo>
                  <a:close/>
                </a:path>
              </a:pathLst>
            </a:custGeom>
            <a:solidFill>
              <a:srgbClr val="2563EB"/>
            </a:solidFill>
            <a:ln w="28575" cap="sq">
              <a:solidFill>
                <a:srgbClr val="1F2937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52400" y="-47625"/>
              <a:ext cx="2049120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7595003" y="793769"/>
            <a:ext cx="3097995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F7F9F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KPI CARD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3488443"/>
            <a:chOff x="0" y="0"/>
            <a:chExt cx="4816593" cy="9187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918767"/>
            </a:xfrm>
            <a:custGeom>
              <a:avLst/>
              <a:gdLst/>
              <a:ahLst/>
              <a:cxnLst/>
              <a:rect l="l" t="t" r="r" b="b"/>
              <a:pathLst>
                <a:path w="4816592" h="918767">
                  <a:moveTo>
                    <a:pt x="0" y="0"/>
                  </a:moveTo>
                  <a:lnTo>
                    <a:pt x="4816592" y="0"/>
                  </a:lnTo>
                  <a:lnTo>
                    <a:pt x="4816592" y="918767"/>
                  </a:lnTo>
                  <a:lnTo>
                    <a:pt x="0" y="918767"/>
                  </a:lnTo>
                  <a:close/>
                </a:path>
              </a:pathLst>
            </a:custGeom>
            <a:solidFill>
              <a:srgbClr val="F7F9F7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9568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0" y="1014412"/>
            <a:ext cx="18288000" cy="0"/>
          </a:xfrm>
          <a:prstGeom prst="line">
            <a:avLst/>
          </a:prstGeom>
          <a:ln w="19050" cap="flat">
            <a:solidFill>
              <a:srgbClr val="1F29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0" y="3488443"/>
            <a:ext cx="18288000" cy="0"/>
          </a:xfrm>
          <a:prstGeom prst="line">
            <a:avLst/>
          </a:prstGeom>
          <a:ln w="19050" cap="flat">
            <a:solidFill>
              <a:srgbClr val="1F29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0" y="9248775"/>
            <a:ext cx="18462010" cy="0"/>
          </a:xfrm>
          <a:prstGeom prst="line">
            <a:avLst/>
          </a:prstGeom>
          <a:ln w="19050" cap="flat">
            <a:solidFill>
              <a:srgbClr val="1F29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>
            <a:off x="9144000" y="3501474"/>
            <a:ext cx="0" cy="5747301"/>
          </a:xfrm>
          <a:prstGeom prst="line">
            <a:avLst/>
          </a:prstGeom>
          <a:ln w="19050" cap="flat">
            <a:solidFill>
              <a:srgbClr val="1F29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4712508" y="3480190"/>
            <a:ext cx="0" cy="5747301"/>
          </a:xfrm>
          <a:prstGeom prst="line">
            <a:avLst/>
          </a:prstGeom>
          <a:ln w="19050" cap="flat">
            <a:solidFill>
              <a:srgbClr val="1F29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>
            <a:off x="13581155" y="3480190"/>
            <a:ext cx="0" cy="5747301"/>
          </a:xfrm>
          <a:prstGeom prst="line">
            <a:avLst/>
          </a:prstGeom>
          <a:ln w="19050" cap="flat">
            <a:solidFill>
              <a:srgbClr val="1F2937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1" name="Group 11"/>
          <p:cNvGrpSpPr/>
          <p:nvPr/>
        </p:nvGrpSpPr>
        <p:grpSpPr>
          <a:xfrm>
            <a:off x="1028700" y="4899128"/>
            <a:ext cx="3222521" cy="2284962"/>
            <a:chOff x="0" y="0"/>
            <a:chExt cx="499253" cy="354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99253" cy="354000"/>
            </a:xfrm>
            <a:custGeom>
              <a:avLst/>
              <a:gdLst/>
              <a:ahLst/>
              <a:cxnLst/>
              <a:rect l="l" t="t" r="r" b="b"/>
              <a:pathLst>
                <a:path w="499253" h="354000">
                  <a:moveTo>
                    <a:pt x="0" y="0"/>
                  </a:moveTo>
                  <a:lnTo>
                    <a:pt x="499253" y="0"/>
                  </a:lnTo>
                  <a:lnTo>
                    <a:pt x="499253" y="354000"/>
                  </a:lnTo>
                  <a:lnTo>
                    <a:pt x="0" y="354000"/>
                  </a:lnTo>
                  <a:close/>
                </a:path>
              </a:pathLst>
            </a:custGeom>
            <a:blipFill>
              <a:blip r:embed="rId2"/>
              <a:stretch>
                <a:fillRect l="-3131" r="-3131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5430722" y="4931008"/>
            <a:ext cx="3222521" cy="2284962"/>
            <a:chOff x="0" y="0"/>
            <a:chExt cx="499253" cy="354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99253" cy="354000"/>
            </a:xfrm>
            <a:custGeom>
              <a:avLst/>
              <a:gdLst/>
              <a:ahLst/>
              <a:cxnLst/>
              <a:rect l="l" t="t" r="r" b="b"/>
              <a:pathLst>
                <a:path w="499253" h="354000">
                  <a:moveTo>
                    <a:pt x="0" y="0"/>
                  </a:moveTo>
                  <a:lnTo>
                    <a:pt x="499253" y="0"/>
                  </a:lnTo>
                  <a:lnTo>
                    <a:pt x="499253" y="354000"/>
                  </a:lnTo>
                  <a:lnTo>
                    <a:pt x="0" y="354000"/>
                  </a:lnTo>
                  <a:close/>
                </a:path>
              </a:pathLst>
            </a:custGeom>
            <a:blipFill>
              <a:blip r:embed="rId3"/>
              <a:stretch>
                <a:fillRect l="-3131" r="-3131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9639300" y="4867637"/>
            <a:ext cx="3334538" cy="2284962"/>
            <a:chOff x="0" y="0"/>
            <a:chExt cx="516607" cy="354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16607" cy="354000"/>
            </a:xfrm>
            <a:custGeom>
              <a:avLst/>
              <a:gdLst/>
              <a:ahLst/>
              <a:cxnLst/>
              <a:rect l="l" t="t" r="r" b="b"/>
              <a:pathLst>
                <a:path w="516607" h="354000">
                  <a:moveTo>
                    <a:pt x="0" y="0"/>
                  </a:moveTo>
                  <a:lnTo>
                    <a:pt x="516607" y="0"/>
                  </a:lnTo>
                  <a:lnTo>
                    <a:pt x="516607" y="354000"/>
                  </a:lnTo>
                  <a:lnTo>
                    <a:pt x="0" y="354000"/>
                  </a:lnTo>
                  <a:close/>
                </a:path>
              </a:pathLst>
            </a:custGeom>
            <a:blipFill>
              <a:blip r:embed="rId4"/>
              <a:stretch>
                <a:fillRect l="-1346" r="-1346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14146886" y="4867637"/>
            <a:ext cx="3222521" cy="2284962"/>
            <a:chOff x="0" y="0"/>
            <a:chExt cx="499253" cy="3540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99253" cy="354000"/>
            </a:xfrm>
            <a:custGeom>
              <a:avLst/>
              <a:gdLst/>
              <a:ahLst/>
              <a:cxnLst/>
              <a:rect l="l" t="t" r="r" b="b"/>
              <a:pathLst>
                <a:path w="499253" h="354000">
                  <a:moveTo>
                    <a:pt x="0" y="0"/>
                  </a:moveTo>
                  <a:lnTo>
                    <a:pt x="499253" y="0"/>
                  </a:lnTo>
                  <a:lnTo>
                    <a:pt x="499253" y="354000"/>
                  </a:lnTo>
                  <a:lnTo>
                    <a:pt x="0" y="354000"/>
                  </a:lnTo>
                  <a:close/>
                </a:path>
              </a:pathLst>
            </a:custGeom>
            <a:blipFill>
              <a:blip r:embed="rId5"/>
              <a:stretch>
                <a:fillRect l="-3131" r="-3131"/>
              </a:stretch>
            </a:blipFill>
          </p:spPr>
        </p:sp>
      </p:grpSp>
      <p:sp>
        <p:nvSpPr>
          <p:cNvPr id="19" name="TextBox 19"/>
          <p:cNvSpPr txBox="1"/>
          <p:nvPr/>
        </p:nvSpPr>
        <p:spPr>
          <a:xfrm>
            <a:off x="1028700" y="1317940"/>
            <a:ext cx="8937707" cy="1619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599"/>
              </a:lnSpc>
            </a:pPr>
            <a:r>
              <a:rPr lang="en-US" sz="9000" b="1">
                <a:solidFill>
                  <a:srgbClr val="1F2937"/>
                </a:solidFill>
                <a:latin typeface="Poppins Bold"/>
                <a:ea typeface="Poppins Bold"/>
                <a:cs typeface="Poppins Bold"/>
                <a:sym typeface="Poppins Bold"/>
              </a:rPr>
              <a:t>Key Findings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28700" y="3866798"/>
            <a:ext cx="3331052" cy="711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50"/>
              </a:lnSpc>
            </a:pPr>
            <a:r>
              <a:rPr lang="en-US" sz="5000" b="1">
                <a:solidFill>
                  <a:srgbClr val="2563EB"/>
                </a:solidFill>
                <a:latin typeface="Poppins Bold"/>
                <a:ea typeface="Poppins Bold"/>
                <a:cs typeface="Poppins Bold"/>
                <a:sym typeface="Poppins Bold"/>
              </a:rPr>
              <a:t>01.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262728" y="3864153"/>
            <a:ext cx="3331052" cy="711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50"/>
              </a:lnSpc>
            </a:pPr>
            <a:r>
              <a:rPr lang="en-US" sz="5000" b="1">
                <a:solidFill>
                  <a:srgbClr val="2563EB"/>
                </a:solidFill>
                <a:latin typeface="Poppins Bold"/>
                <a:ea typeface="Poppins Bold"/>
                <a:cs typeface="Poppins Bold"/>
                <a:sym typeface="Poppins Bold"/>
              </a:rPr>
              <a:t>02.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601200" y="3864153"/>
            <a:ext cx="3331052" cy="711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50"/>
              </a:lnSpc>
            </a:pPr>
            <a:r>
              <a:rPr lang="en-US" sz="5000" b="1">
                <a:solidFill>
                  <a:srgbClr val="2563EB"/>
                </a:solidFill>
                <a:latin typeface="Poppins Bold"/>
                <a:ea typeface="Poppins Bold"/>
                <a:cs typeface="Poppins Bold"/>
                <a:sym typeface="Poppins Bold"/>
              </a:rPr>
              <a:t>03.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038355" y="3864153"/>
            <a:ext cx="3331052" cy="711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50"/>
              </a:lnSpc>
            </a:pPr>
            <a:r>
              <a:rPr lang="en-US" sz="5000" b="1">
                <a:solidFill>
                  <a:srgbClr val="2563EB"/>
                </a:solidFill>
                <a:latin typeface="Poppins Bold"/>
                <a:ea typeface="Poppins Bold"/>
                <a:cs typeface="Poppins Bold"/>
                <a:sym typeface="Poppins Bold"/>
              </a:rPr>
              <a:t>04.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28700" y="7524074"/>
            <a:ext cx="3222521" cy="1298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Revenue increased compared to the previous period.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169708" y="7524074"/>
            <a:ext cx="3744550" cy="1298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Several regions demonstrated significant market potential.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601200" y="7524074"/>
            <a:ext cx="3222521" cy="1298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Digital sales channels delivered the highest performance.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4036779" y="7461353"/>
            <a:ext cx="3222521" cy="1298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Top-selling products continued to drive growth.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7024223" y="648437"/>
            <a:ext cx="4239554" cy="731951"/>
            <a:chOff x="0" y="0"/>
            <a:chExt cx="2353920" cy="4064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353920" cy="406400"/>
            </a:xfrm>
            <a:custGeom>
              <a:avLst/>
              <a:gdLst/>
              <a:ahLst/>
              <a:cxnLst/>
              <a:rect l="l" t="t" r="r" b="b"/>
              <a:pathLst>
                <a:path w="2353920" h="406400">
                  <a:moveTo>
                    <a:pt x="2150720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2150720" y="406400"/>
                  </a:lnTo>
                  <a:lnTo>
                    <a:pt x="2353920" y="203200"/>
                  </a:lnTo>
                  <a:lnTo>
                    <a:pt x="2150720" y="0"/>
                  </a:lnTo>
                  <a:close/>
                </a:path>
              </a:pathLst>
            </a:custGeom>
            <a:solidFill>
              <a:srgbClr val="2563EB"/>
            </a:solidFill>
            <a:ln w="28575" cap="sq">
              <a:solidFill>
                <a:srgbClr val="1F2937"/>
              </a:solidFill>
              <a:prstDash val="solid"/>
              <a:miter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52400" y="-47625"/>
              <a:ext cx="2049120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7595003" y="779481"/>
            <a:ext cx="3097995" cy="868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 dirty="0">
                <a:solidFill>
                  <a:srgbClr val="F7F9F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Global Retail  </a:t>
            </a:r>
          </a:p>
          <a:p>
            <a:pPr algn="ctr">
              <a:lnSpc>
                <a:spcPts val="3499"/>
              </a:lnSpc>
            </a:pPr>
            <a:endParaRPr lang="en-US" sz="2499" b="1" dirty="0">
              <a:solidFill>
                <a:srgbClr val="F7F9F7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3488443"/>
            <a:chOff x="0" y="0"/>
            <a:chExt cx="4816593" cy="9187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918767"/>
            </a:xfrm>
            <a:custGeom>
              <a:avLst/>
              <a:gdLst/>
              <a:ahLst/>
              <a:cxnLst/>
              <a:rect l="l" t="t" r="r" b="b"/>
              <a:pathLst>
                <a:path w="4816592" h="918767">
                  <a:moveTo>
                    <a:pt x="0" y="0"/>
                  </a:moveTo>
                  <a:lnTo>
                    <a:pt x="4816592" y="0"/>
                  </a:lnTo>
                  <a:lnTo>
                    <a:pt x="4816592" y="918767"/>
                  </a:lnTo>
                  <a:lnTo>
                    <a:pt x="0" y="918767"/>
                  </a:lnTo>
                  <a:close/>
                </a:path>
              </a:pathLst>
            </a:custGeom>
            <a:solidFill>
              <a:srgbClr val="F7F9F7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9568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0" y="1014412"/>
            <a:ext cx="18288000" cy="0"/>
          </a:xfrm>
          <a:prstGeom prst="line">
            <a:avLst/>
          </a:prstGeom>
          <a:ln w="19050" cap="flat">
            <a:solidFill>
              <a:srgbClr val="1F29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0" y="3488443"/>
            <a:ext cx="18288000" cy="0"/>
          </a:xfrm>
          <a:prstGeom prst="line">
            <a:avLst/>
          </a:prstGeom>
          <a:ln w="19050" cap="flat">
            <a:solidFill>
              <a:srgbClr val="1F29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174010" y="9248775"/>
            <a:ext cx="18288000" cy="0"/>
          </a:xfrm>
          <a:prstGeom prst="line">
            <a:avLst/>
          </a:prstGeom>
          <a:ln w="19050" cap="flat">
            <a:solidFill>
              <a:srgbClr val="1F29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>
            <a:off x="9144000" y="3501474"/>
            <a:ext cx="0" cy="5747301"/>
          </a:xfrm>
          <a:prstGeom prst="line">
            <a:avLst/>
          </a:prstGeom>
          <a:ln w="19050" cap="flat">
            <a:solidFill>
              <a:srgbClr val="1F29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4712508" y="3480190"/>
            <a:ext cx="0" cy="5747301"/>
          </a:xfrm>
          <a:prstGeom prst="line">
            <a:avLst/>
          </a:prstGeom>
          <a:ln w="19050" cap="flat">
            <a:solidFill>
              <a:srgbClr val="1F29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>
            <a:off x="13581155" y="3480190"/>
            <a:ext cx="0" cy="5747301"/>
          </a:xfrm>
          <a:prstGeom prst="line">
            <a:avLst/>
          </a:prstGeom>
          <a:ln w="19050" cap="flat">
            <a:solidFill>
              <a:srgbClr val="1F2937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1" name="Group 11"/>
          <p:cNvGrpSpPr/>
          <p:nvPr/>
        </p:nvGrpSpPr>
        <p:grpSpPr>
          <a:xfrm>
            <a:off x="1028700" y="4899128"/>
            <a:ext cx="3222521" cy="2284962"/>
            <a:chOff x="0" y="0"/>
            <a:chExt cx="499253" cy="354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99253" cy="354000"/>
            </a:xfrm>
            <a:custGeom>
              <a:avLst/>
              <a:gdLst/>
              <a:ahLst/>
              <a:cxnLst/>
              <a:rect l="l" t="t" r="r" b="b"/>
              <a:pathLst>
                <a:path w="499253" h="354000">
                  <a:moveTo>
                    <a:pt x="0" y="0"/>
                  </a:moveTo>
                  <a:lnTo>
                    <a:pt x="499253" y="0"/>
                  </a:lnTo>
                  <a:lnTo>
                    <a:pt x="499253" y="354000"/>
                  </a:lnTo>
                  <a:lnTo>
                    <a:pt x="0" y="354000"/>
                  </a:lnTo>
                  <a:close/>
                </a:path>
              </a:pathLst>
            </a:custGeom>
            <a:blipFill>
              <a:blip r:embed="rId2"/>
              <a:stretch>
                <a:fillRect l="-10733" r="-10733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5430722" y="4931008"/>
            <a:ext cx="3222521" cy="2284962"/>
            <a:chOff x="0" y="0"/>
            <a:chExt cx="499253" cy="354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99253" cy="354000"/>
            </a:xfrm>
            <a:custGeom>
              <a:avLst/>
              <a:gdLst/>
              <a:ahLst/>
              <a:cxnLst/>
              <a:rect l="l" t="t" r="r" b="b"/>
              <a:pathLst>
                <a:path w="499253" h="354000">
                  <a:moveTo>
                    <a:pt x="0" y="0"/>
                  </a:moveTo>
                  <a:lnTo>
                    <a:pt x="499253" y="0"/>
                  </a:lnTo>
                  <a:lnTo>
                    <a:pt x="499253" y="354000"/>
                  </a:lnTo>
                  <a:lnTo>
                    <a:pt x="0" y="354000"/>
                  </a:lnTo>
                  <a:close/>
                </a:path>
              </a:pathLst>
            </a:custGeom>
            <a:blipFill>
              <a:blip r:embed="rId3"/>
              <a:stretch>
                <a:fillRect l="-3212" r="-3212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9751317" y="4867637"/>
            <a:ext cx="3222521" cy="2284962"/>
            <a:chOff x="0" y="0"/>
            <a:chExt cx="499253" cy="354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99253" cy="354000"/>
            </a:xfrm>
            <a:custGeom>
              <a:avLst/>
              <a:gdLst/>
              <a:ahLst/>
              <a:cxnLst/>
              <a:rect l="l" t="t" r="r" b="b"/>
              <a:pathLst>
                <a:path w="499253" h="354000">
                  <a:moveTo>
                    <a:pt x="0" y="0"/>
                  </a:moveTo>
                  <a:lnTo>
                    <a:pt x="499253" y="0"/>
                  </a:lnTo>
                  <a:lnTo>
                    <a:pt x="499253" y="354000"/>
                  </a:lnTo>
                  <a:lnTo>
                    <a:pt x="0" y="354000"/>
                  </a:lnTo>
                  <a:close/>
                </a:path>
              </a:pathLst>
            </a:custGeom>
            <a:blipFill>
              <a:blip r:embed="rId4"/>
              <a:stretch>
                <a:fillRect l="-3131" r="-3131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14146886" y="4867637"/>
            <a:ext cx="3222521" cy="2284962"/>
            <a:chOff x="0" y="0"/>
            <a:chExt cx="499253" cy="3540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99253" cy="354000"/>
            </a:xfrm>
            <a:custGeom>
              <a:avLst/>
              <a:gdLst/>
              <a:ahLst/>
              <a:cxnLst/>
              <a:rect l="l" t="t" r="r" b="b"/>
              <a:pathLst>
                <a:path w="499253" h="354000">
                  <a:moveTo>
                    <a:pt x="0" y="0"/>
                  </a:moveTo>
                  <a:lnTo>
                    <a:pt x="499253" y="0"/>
                  </a:lnTo>
                  <a:lnTo>
                    <a:pt x="499253" y="354000"/>
                  </a:lnTo>
                  <a:lnTo>
                    <a:pt x="0" y="354000"/>
                  </a:lnTo>
                  <a:close/>
                </a:path>
              </a:pathLst>
            </a:custGeom>
            <a:blipFill>
              <a:blip r:embed="rId5"/>
              <a:stretch>
                <a:fillRect l="-10863" r="-10863"/>
              </a:stretch>
            </a:blipFill>
          </p:spPr>
        </p:sp>
      </p:grpSp>
      <p:sp>
        <p:nvSpPr>
          <p:cNvPr id="19" name="TextBox 19"/>
          <p:cNvSpPr txBox="1"/>
          <p:nvPr/>
        </p:nvSpPr>
        <p:spPr>
          <a:xfrm>
            <a:off x="1028700" y="1317940"/>
            <a:ext cx="8937707" cy="1619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599"/>
              </a:lnSpc>
            </a:pPr>
            <a:r>
              <a:rPr lang="en-US" sz="9000" b="1">
                <a:solidFill>
                  <a:srgbClr val="1F2937"/>
                </a:solidFill>
                <a:latin typeface="Poppins Bold"/>
                <a:ea typeface="Poppins Bold"/>
                <a:cs typeface="Poppins Bold"/>
                <a:sym typeface="Poppins Bold"/>
              </a:rPr>
              <a:t>Action Items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28700" y="3866798"/>
            <a:ext cx="3331052" cy="711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50"/>
              </a:lnSpc>
            </a:pPr>
            <a:r>
              <a:rPr lang="en-US" sz="5000" b="1">
                <a:solidFill>
                  <a:srgbClr val="2563EB"/>
                </a:solidFill>
                <a:latin typeface="Poppins Bold"/>
                <a:ea typeface="Poppins Bold"/>
                <a:cs typeface="Poppins Bold"/>
                <a:sym typeface="Poppins Bold"/>
              </a:rPr>
              <a:t>01.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262728" y="3864153"/>
            <a:ext cx="3331052" cy="711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50"/>
              </a:lnSpc>
            </a:pPr>
            <a:r>
              <a:rPr lang="en-US" sz="5000" b="1">
                <a:solidFill>
                  <a:srgbClr val="2563EB"/>
                </a:solidFill>
                <a:latin typeface="Poppins Bold"/>
                <a:ea typeface="Poppins Bold"/>
                <a:cs typeface="Poppins Bold"/>
                <a:sym typeface="Poppins Bold"/>
              </a:rPr>
              <a:t>02.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601200" y="3864153"/>
            <a:ext cx="3331052" cy="711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50"/>
              </a:lnSpc>
            </a:pPr>
            <a:r>
              <a:rPr lang="en-US" sz="5000" b="1">
                <a:solidFill>
                  <a:srgbClr val="2563EB"/>
                </a:solidFill>
                <a:latin typeface="Poppins Bold"/>
                <a:ea typeface="Poppins Bold"/>
                <a:cs typeface="Poppins Bold"/>
                <a:sym typeface="Poppins Bold"/>
              </a:rPr>
              <a:t>03.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038355" y="3864153"/>
            <a:ext cx="3331052" cy="711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50"/>
              </a:lnSpc>
            </a:pPr>
            <a:r>
              <a:rPr lang="en-US" sz="5000" b="1">
                <a:solidFill>
                  <a:srgbClr val="2563EB"/>
                </a:solidFill>
                <a:latin typeface="Poppins Bold"/>
                <a:ea typeface="Poppins Bold"/>
                <a:cs typeface="Poppins Bold"/>
                <a:sym typeface="Poppins Bold"/>
              </a:rPr>
              <a:t>04.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28700" y="7524074"/>
            <a:ext cx="3222521" cy="860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Strengthen customer retention initiatives.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169708" y="7524074"/>
            <a:ext cx="3744550" cy="1298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Expand marketing activities in high-growth regions.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601200" y="7524074"/>
            <a:ext cx="3222521" cy="860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Optimize product inventory planning.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4036779" y="7461353"/>
            <a:ext cx="3580559" cy="1298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Improve performance monitoring across sales channels.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7024223" y="648437"/>
            <a:ext cx="4239554" cy="731951"/>
            <a:chOff x="0" y="0"/>
            <a:chExt cx="2353920" cy="4064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353920" cy="406400"/>
            </a:xfrm>
            <a:custGeom>
              <a:avLst/>
              <a:gdLst/>
              <a:ahLst/>
              <a:cxnLst/>
              <a:rect l="l" t="t" r="r" b="b"/>
              <a:pathLst>
                <a:path w="2353920" h="406400">
                  <a:moveTo>
                    <a:pt x="2150720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2150720" y="406400"/>
                  </a:lnTo>
                  <a:lnTo>
                    <a:pt x="2353920" y="203200"/>
                  </a:lnTo>
                  <a:lnTo>
                    <a:pt x="2150720" y="0"/>
                  </a:lnTo>
                  <a:close/>
                </a:path>
              </a:pathLst>
            </a:custGeom>
            <a:solidFill>
              <a:srgbClr val="2563EB"/>
            </a:solidFill>
            <a:ln w="28575" cap="sq">
              <a:solidFill>
                <a:srgbClr val="1F2937"/>
              </a:solidFill>
              <a:prstDash val="solid"/>
              <a:miter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52400" y="-47625"/>
              <a:ext cx="2049120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7595003" y="779481"/>
            <a:ext cx="3097995" cy="422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 dirty="0">
                <a:solidFill>
                  <a:srgbClr val="F7F9F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Global Retails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6612030"/>
            <a:chOff x="0" y="0"/>
            <a:chExt cx="4816593" cy="17414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1741440"/>
            </a:xfrm>
            <a:custGeom>
              <a:avLst/>
              <a:gdLst/>
              <a:ahLst/>
              <a:cxnLst/>
              <a:rect l="l" t="t" r="r" b="b"/>
              <a:pathLst>
                <a:path w="4816592" h="1741440">
                  <a:moveTo>
                    <a:pt x="0" y="0"/>
                  </a:moveTo>
                  <a:lnTo>
                    <a:pt x="4816592" y="0"/>
                  </a:lnTo>
                  <a:lnTo>
                    <a:pt x="4816592" y="1741440"/>
                  </a:lnTo>
                  <a:lnTo>
                    <a:pt x="0" y="1741440"/>
                  </a:lnTo>
                  <a:close/>
                </a:path>
              </a:pathLst>
            </a:custGeom>
            <a:solidFill>
              <a:srgbClr val="F7F9F7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17795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0" y="6602505"/>
            <a:ext cx="18288000" cy="0"/>
          </a:xfrm>
          <a:prstGeom prst="line">
            <a:avLst/>
          </a:prstGeom>
          <a:ln w="19050" cap="flat">
            <a:solidFill>
              <a:srgbClr val="1F29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0" y="1014412"/>
            <a:ext cx="18288000" cy="0"/>
          </a:xfrm>
          <a:prstGeom prst="line">
            <a:avLst/>
          </a:prstGeom>
          <a:ln w="19050" cap="flat">
            <a:solidFill>
              <a:srgbClr val="1F29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0" y="3488443"/>
            <a:ext cx="18288000" cy="0"/>
          </a:xfrm>
          <a:prstGeom prst="line">
            <a:avLst/>
          </a:prstGeom>
          <a:ln w="19050" cap="flat">
            <a:solidFill>
              <a:srgbClr val="1F2937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" name="Group 8"/>
          <p:cNvGrpSpPr/>
          <p:nvPr/>
        </p:nvGrpSpPr>
        <p:grpSpPr>
          <a:xfrm>
            <a:off x="599186" y="3122467"/>
            <a:ext cx="4239554" cy="731951"/>
            <a:chOff x="0" y="0"/>
            <a:chExt cx="2353920" cy="406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353920" cy="406400"/>
            </a:xfrm>
            <a:custGeom>
              <a:avLst/>
              <a:gdLst/>
              <a:ahLst/>
              <a:cxnLst/>
              <a:rect l="l" t="t" r="r" b="b"/>
              <a:pathLst>
                <a:path w="2353920" h="406400">
                  <a:moveTo>
                    <a:pt x="2150720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2150720" y="406400"/>
                  </a:lnTo>
                  <a:lnTo>
                    <a:pt x="2353920" y="203200"/>
                  </a:lnTo>
                  <a:lnTo>
                    <a:pt x="2150720" y="0"/>
                  </a:lnTo>
                  <a:close/>
                </a:path>
              </a:pathLst>
            </a:custGeom>
            <a:solidFill>
              <a:srgbClr val="2563EB"/>
            </a:solidFill>
            <a:ln w="28575" cap="sq">
              <a:solidFill>
                <a:srgbClr val="1F2937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52400" y="-47625"/>
              <a:ext cx="2049120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019746" y="6246055"/>
            <a:ext cx="4239554" cy="731951"/>
            <a:chOff x="0" y="0"/>
            <a:chExt cx="2353920" cy="4064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353920" cy="406400"/>
            </a:xfrm>
            <a:custGeom>
              <a:avLst/>
              <a:gdLst/>
              <a:ahLst/>
              <a:cxnLst/>
              <a:rect l="l" t="t" r="r" b="b"/>
              <a:pathLst>
                <a:path w="2353920" h="406400">
                  <a:moveTo>
                    <a:pt x="2150720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2150720" y="406400"/>
                  </a:lnTo>
                  <a:lnTo>
                    <a:pt x="2353920" y="203200"/>
                  </a:lnTo>
                  <a:lnTo>
                    <a:pt x="2150720" y="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1F2937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52400" y="-47625"/>
              <a:ext cx="2049120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28700" y="3863944"/>
            <a:ext cx="9933719" cy="2181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0"/>
              </a:lnSpc>
            </a:pPr>
            <a:r>
              <a:rPr lang="en-US" sz="12000" b="1">
                <a:solidFill>
                  <a:srgbClr val="1F2937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703353" y="6367574"/>
            <a:ext cx="3004063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20 </a:t>
            </a:r>
            <a:r>
              <a:rPr lang="en-US" sz="2499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July, 2026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69966" y="3253511"/>
            <a:ext cx="3097995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F7F9F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Global Retail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1499350"/>
            <a:ext cx="3687670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Presented by: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8700" y="1981843"/>
            <a:ext cx="3687670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1">
                <a:solidFill>
                  <a:srgbClr val="1F29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Rohini Kanakala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8EDB84D-FB5B-50D9-C2D7-D6FAC720F0AD}"/>
              </a:ext>
            </a:extLst>
          </p:cNvPr>
          <p:cNvSpPr txBox="1"/>
          <p:nvPr/>
        </p:nvSpPr>
        <p:spPr>
          <a:xfrm>
            <a:off x="4575687" y="4834983"/>
            <a:ext cx="9151374" cy="4769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99" dirty="0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rPr>
              <a:t>20</a:t>
            </a:r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770</Words>
  <Application>Microsoft Office PowerPoint</Application>
  <PresentationFormat>Custom</PresentationFormat>
  <Paragraphs>145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Open Sans Bold</vt:lpstr>
      <vt:lpstr>Atkinson Hyperlegible Bold</vt:lpstr>
      <vt:lpstr>Arial</vt:lpstr>
      <vt:lpstr>Poppins Bold</vt:lpstr>
      <vt:lpstr>Calibri</vt:lpstr>
      <vt:lpstr>Open Sans</vt:lpstr>
      <vt:lpstr>Atkinson Hyperlegible</vt:lpstr>
      <vt:lpstr>Lexend Deca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Minimalist Sales Report Presentation</dc:title>
  <cp:lastModifiedBy>Rohini kanakala</cp:lastModifiedBy>
  <cp:revision>2</cp:revision>
  <dcterms:created xsi:type="dcterms:W3CDTF">2006-08-16T00:00:00Z</dcterms:created>
  <dcterms:modified xsi:type="dcterms:W3CDTF">2026-07-19T12:27:34Z</dcterms:modified>
  <dc:identifier>DAHP0bcNbyM</dc:identifier>
</cp:coreProperties>
</file>